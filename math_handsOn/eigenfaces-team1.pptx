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66" y="4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0720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01 of the mathematics project. Everything here is PCA written from scratch with NumPy; scikit-learn only loads the Olivetti dataset and computes the final classification metrics.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question from the project brief. Each image is 4096 numbers; PCA asks how few coordinates can stand in for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required steps, grouped into three phases. Order matters: the mean and the eigenface basis are learned from training data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in five lines of algebra. U_k is orthonormal, which is why reconstruction error can never grow when k grows.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change from the previous version of the deck. The single fixed 8/2 split was replaced by five rotating folds, so every image is tested exactly once and parameters are chosen on validation, never on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face is the pixel-wise average of the 280 training images of fold 1. Centering shifts each pixel column without changing its spread — the printed variances match to eight digits, which is a correctness check.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numbers from the current run. With 280 training images the rank limit is 279, so k = 250 is now inside the valid range and is no longer filtered out of the grid.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The eigenvalue spectrum answers a different question from MSE: how much of the training variance the first k directions carry. Note that these thresholds land far above the k the elbow and silhouette methods pick.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identities, one training image each. Ten components already give a recognisable person; glasses frames and mouth detail only sharpen from about 50 onwards.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elbow is a geometric heuristic on the sampled points, not an optimum. It still returns 50 under the new split.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Silhouette uses the true identity labels and measures class geometry, not pixel error. It peaks at 20 and then falls steadily, which is the opposite trend to explained variance.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recognition numbers on this slide are validation numbers from fold 1, with 40 validation images. Test images are not used for any parameter comparison.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Parameters are chosen on validation inside each fold, then frozen before the test images of that fold are scored. Read the standard deviation as a spread, not a confidence interval, because the folds share training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k is not only a quality decision. Projection, reconstruction and every KNN query scale linearly in k, and the eigendecomposition now runs once per fold rather than once in total.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version: three criteria disagree, and the cross-validation says the neighbour count is what is really stable. Recommend a range rather than a single number.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0F19"/>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kian4A/bootcamp_ML/tree/8e4ca7b257eaa7d7ce819018f72e646b28de53f8/math_handsO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01 / 15</a:t>
            </a:r>
            <a:endParaRPr lang="en-US" sz="900" dirty="0"/>
          </a:p>
        </p:txBody>
      </p:sp>
      <p:sp>
        <p:nvSpPr>
          <p:cNvPr id="5" name="Shape 2"/>
          <p:cNvSpPr/>
          <p:nvPr/>
        </p:nvSpPr>
        <p:spPr>
          <a:xfrm>
            <a:off x="9509760" y="713232"/>
            <a:ext cx="82296" cy="82296"/>
          </a:xfrm>
          <a:prstGeom prst="ellipse">
            <a:avLst/>
          </a:prstGeom>
          <a:solidFill>
            <a:srgbClr val="22D3EE"/>
          </a:solidFill>
          <a:ln w="12700">
            <a:solidFill>
              <a:srgbClr val="22D3EE"/>
            </a:solidFill>
            <a:prstDash val="solid"/>
          </a:ln>
        </p:spPr>
        <p:txBody>
          <a:bodyPr/>
          <a:lstStyle/>
          <a:p>
            <a:endParaRPr lang="en-US"/>
          </a:p>
        </p:txBody>
      </p:sp>
      <p:sp>
        <p:nvSpPr>
          <p:cNvPr id="6" name="Shape 3"/>
          <p:cNvSpPr/>
          <p:nvPr/>
        </p:nvSpPr>
        <p:spPr>
          <a:xfrm>
            <a:off x="9893808" y="713232"/>
            <a:ext cx="82296" cy="82296"/>
          </a:xfrm>
          <a:prstGeom prst="ellipse">
            <a:avLst/>
          </a:prstGeom>
          <a:solidFill>
            <a:srgbClr val="22D3EE"/>
          </a:solidFill>
          <a:ln w="12700">
            <a:solidFill>
              <a:srgbClr val="22D3EE"/>
            </a:solidFill>
            <a:prstDash val="solid"/>
          </a:ln>
        </p:spPr>
        <p:txBody>
          <a:bodyPr/>
          <a:lstStyle/>
          <a:p>
            <a:endParaRPr lang="en-US"/>
          </a:p>
        </p:txBody>
      </p:sp>
      <p:sp>
        <p:nvSpPr>
          <p:cNvPr id="7" name="Shape 4"/>
          <p:cNvSpPr/>
          <p:nvPr/>
        </p:nvSpPr>
        <p:spPr>
          <a:xfrm>
            <a:off x="10277856" y="713232"/>
            <a:ext cx="82296" cy="82296"/>
          </a:xfrm>
          <a:prstGeom prst="ellipse">
            <a:avLst/>
          </a:prstGeom>
          <a:solidFill>
            <a:srgbClr val="22D3EE"/>
          </a:solidFill>
          <a:ln w="12700">
            <a:solidFill>
              <a:srgbClr val="22D3EE"/>
            </a:solidFill>
            <a:prstDash val="solid"/>
          </a:ln>
        </p:spPr>
        <p:txBody>
          <a:bodyPr/>
          <a:lstStyle/>
          <a:p>
            <a:endParaRPr lang="en-US"/>
          </a:p>
        </p:txBody>
      </p:sp>
      <p:sp>
        <p:nvSpPr>
          <p:cNvPr id="8" name="Shape 5"/>
          <p:cNvSpPr/>
          <p:nvPr/>
        </p:nvSpPr>
        <p:spPr>
          <a:xfrm>
            <a:off x="10661904" y="713232"/>
            <a:ext cx="82296" cy="82296"/>
          </a:xfrm>
          <a:prstGeom prst="ellipse">
            <a:avLst/>
          </a:prstGeom>
          <a:solidFill>
            <a:srgbClr val="22D3EE"/>
          </a:solidFill>
          <a:ln w="12700">
            <a:solidFill>
              <a:srgbClr val="22D3EE"/>
            </a:solidFill>
            <a:prstDash val="solid"/>
          </a:ln>
        </p:spPr>
        <p:txBody>
          <a:bodyPr/>
          <a:lstStyle/>
          <a:p>
            <a:endParaRPr lang="en-US"/>
          </a:p>
        </p:txBody>
      </p:sp>
      <p:sp>
        <p:nvSpPr>
          <p:cNvPr id="9" name="Shape 6"/>
          <p:cNvSpPr/>
          <p:nvPr/>
        </p:nvSpPr>
        <p:spPr>
          <a:xfrm>
            <a:off x="11045952" y="713232"/>
            <a:ext cx="82296" cy="82296"/>
          </a:xfrm>
          <a:prstGeom prst="ellipse">
            <a:avLst/>
          </a:prstGeom>
          <a:solidFill>
            <a:srgbClr val="22D3EE"/>
          </a:solidFill>
          <a:ln w="12700">
            <a:solidFill>
              <a:srgbClr val="22D3EE"/>
            </a:solidFill>
            <a:prstDash val="solid"/>
          </a:ln>
        </p:spPr>
        <p:txBody>
          <a:bodyPr/>
          <a:lstStyle/>
          <a:p>
            <a:endParaRPr lang="en-US"/>
          </a:p>
        </p:txBody>
      </p:sp>
      <p:sp>
        <p:nvSpPr>
          <p:cNvPr id="10" name="Text 7"/>
          <p:cNvSpPr txBox="1"/>
          <p:nvPr/>
        </p:nvSpPr>
        <p:spPr>
          <a:xfrm>
            <a:off x="548640" y="2240280"/>
            <a:ext cx="8229600" cy="1005840"/>
          </a:xfrm>
          <a:prstGeom prst="rect">
            <a:avLst/>
          </a:prstGeom>
          <a:noFill/>
          <a:ln/>
        </p:spPr>
        <p:txBody>
          <a:bodyPr wrap="square" lIns="0" tIns="0" rIns="0" bIns="0" rtlCol="0" anchor="ctr"/>
          <a:lstStyle/>
          <a:p>
            <a:pPr marL="0" indent="0">
              <a:buNone/>
            </a:pPr>
            <a:r>
              <a:rPr lang="en-US" sz="5400" b="1" kern="0" spc="100" dirty="0">
                <a:solidFill>
                  <a:srgbClr val="F8FAFC"/>
                </a:solidFill>
                <a:latin typeface="Arial" pitchFamily="34" charset="0"/>
                <a:ea typeface="Arial" pitchFamily="34" charset="-122"/>
                <a:cs typeface="Arial" pitchFamily="34" charset="-120"/>
              </a:rPr>
              <a:t>EIGENFACES</a:t>
            </a:r>
            <a:endParaRPr lang="en-US" sz="5400" dirty="0"/>
          </a:p>
        </p:txBody>
      </p:sp>
      <p:sp>
        <p:nvSpPr>
          <p:cNvPr id="11" name="Text 8"/>
          <p:cNvSpPr txBox="1"/>
          <p:nvPr/>
        </p:nvSpPr>
        <p:spPr>
          <a:xfrm>
            <a:off x="548640" y="3291840"/>
            <a:ext cx="8778240" cy="411480"/>
          </a:xfrm>
          <a:prstGeom prst="rect">
            <a:avLst/>
          </a:prstGeom>
          <a:noFill/>
          <a:ln/>
        </p:spPr>
        <p:txBody>
          <a:bodyPr wrap="square" lIns="0" tIns="0" rIns="0" bIns="0" rtlCol="0" anchor="ctr"/>
          <a:lstStyle/>
          <a:p>
            <a:pPr marL="0" indent="0">
              <a:buNone/>
            </a:pPr>
            <a:r>
              <a:rPr lang="en-US" sz="1900" dirty="0">
                <a:solidFill>
                  <a:srgbClr val="22D3EE"/>
                </a:solidFill>
                <a:latin typeface="Arial" pitchFamily="34" charset="0"/>
                <a:ea typeface="Arial" pitchFamily="34" charset="-122"/>
                <a:cs typeface="Arial" pitchFamily="34" charset="-120"/>
              </a:rPr>
              <a:t>Face Compression &amp; Recognition — PCA from Scratch with NumPy</a:t>
            </a:r>
            <a:endParaRPr lang="en-US" sz="1900" dirty="0"/>
          </a:p>
        </p:txBody>
      </p:sp>
      <p:sp>
        <p:nvSpPr>
          <p:cNvPr id="12" name="Shape 9"/>
          <p:cNvSpPr/>
          <p:nvPr/>
        </p:nvSpPr>
        <p:spPr>
          <a:xfrm>
            <a:off x="548640" y="3858768"/>
            <a:ext cx="2926080" cy="0"/>
          </a:xfrm>
          <a:prstGeom prst="line">
            <a:avLst/>
          </a:prstGeom>
          <a:noFill/>
          <a:ln w="15875">
            <a:solidFill>
              <a:srgbClr val="27324A"/>
            </a:solidFill>
            <a:prstDash val="solid"/>
          </a:ln>
        </p:spPr>
        <p:txBody>
          <a:bodyPr/>
          <a:lstStyle/>
          <a:p>
            <a:endParaRPr lang="en-US"/>
          </a:p>
        </p:txBody>
      </p:sp>
      <p:sp>
        <p:nvSpPr>
          <p:cNvPr id="13" name="Text 10"/>
          <p:cNvSpPr txBox="1"/>
          <p:nvPr/>
        </p:nvSpPr>
        <p:spPr>
          <a:xfrm>
            <a:off x="548640" y="4041648"/>
            <a:ext cx="8229600" cy="274320"/>
          </a:xfrm>
          <a:prstGeom prst="rect">
            <a:avLst/>
          </a:prstGeom>
          <a:noFill/>
          <a:ln/>
        </p:spPr>
        <p:txBody>
          <a:bodyPr wrap="square" lIns="0" tIns="0" rIns="0" bIns="0" rtlCol="0" anchor="ctr"/>
          <a:lstStyle/>
          <a:p>
            <a:pPr marL="0" indent="0">
              <a:buNone/>
            </a:pPr>
            <a:r>
              <a:rPr lang="en-US" sz="1300" dirty="0">
                <a:solidFill>
                  <a:srgbClr val="94A3B8"/>
                </a:solidFill>
                <a:latin typeface="Arial" pitchFamily="34" charset="0"/>
                <a:ea typeface="Arial" pitchFamily="34" charset="-122"/>
                <a:cs typeface="Arial" pitchFamily="34" charset="-120"/>
              </a:rPr>
              <a:t>Mathematics Project  ·  Machine Learning Bootcamp</a:t>
            </a:r>
            <a:endParaRPr lang="en-US" sz="1300" dirty="0"/>
          </a:p>
        </p:txBody>
      </p:sp>
      <p:sp>
        <p:nvSpPr>
          <p:cNvPr id="14" name="Text 11"/>
          <p:cNvSpPr txBox="1"/>
          <p:nvPr/>
        </p:nvSpPr>
        <p:spPr>
          <a:xfrm>
            <a:off x="548640" y="4334256"/>
            <a:ext cx="8229600" cy="292608"/>
          </a:xfrm>
          <a:prstGeom prst="rect">
            <a:avLst/>
          </a:prstGeom>
          <a:noFill/>
          <a:ln/>
        </p:spPr>
        <p:txBody>
          <a:bodyPr wrap="square" lIns="0" tIns="0" rIns="0" bIns="0" rtlCol="0" anchor="ctr"/>
          <a:lstStyle/>
          <a:p>
            <a:pPr marL="0" indent="0">
              <a:buNone/>
            </a:pPr>
            <a:r>
              <a:rPr lang="en-US" sz="1400" b="1" dirty="0">
                <a:solidFill>
                  <a:srgbClr val="F8FAFC"/>
                </a:solidFill>
                <a:latin typeface="Arial" pitchFamily="34" charset="0"/>
                <a:ea typeface="Arial" pitchFamily="34" charset="-122"/>
                <a:cs typeface="Arial" pitchFamily="34" charset="-120"/>
              </a:rPr>
              <a:t>Team 01 — Compression &amp; Reconstruction</a:t>
            </a:r>
            <a:endParaRPr lang="en-US" sz="1400" dirty="0"/>
          </a:p>
        </p:txBody>
      </p:sp>
      <p:sp>
        <p:nvSpPr>
          <p:cNvPr id="15" name="Shape 12"/>
          <p:cNvSpPr/>
          <p:nvPr/>
        </p:nvSpPr>
        <p:spPr>
          <a:xfrm>
            <a:off x="548640" y="5029200"/>
            <a:ext cx="5577840" cy="603504"/>
          </a:xfrm>
          <a:prstGeom prst="roundRect">
            <a:avLst>
              <a:gd name="adj" fmla="val 13636"/>
            </a:avLst>
          </a:prstGeom>
          <a:solidFill>
            <a:srgbClr val="141B2D"/>
          </a:solidFill>
          <a:ln w="9525">
            <a:solidFill>
              <a:srgbClr val="27324A"/>
            </a:solidFill>
            <a:prstDash val="solid"/>
          </a:ln>
        </p:spPr>
        <p:txBody>
          <a:bodyPr/>
          <a:lstStyle/>
          <a:p>
            <a:endParaRPr lang="en-US"/>
          </a:p>
        </p:txBody>
      </p:sp>
      <p:sp>
        <p:nvSpPr>
          <p:cNvPr id="16" name="Text 13"/>
          <p:cNvSpPr txBox="1"/>
          <p:nvPr/>
        </p:nvSpPr>
        <p:spPr>
          <a:xfrm>
            <a:off x="777240" y="5029200"/>
            <a:ext cx="5120640" cy="603504"/>
          </a:xfrm>
          <a:prstGeom prst="rect">
            <a:avLst/>
          </a:prstGeom>
          <a:noFill/>
          <a:ln/>
        </p:spPr>
        <p:txBody>
          <a:bodyPr wrap="square" lIns="0" tIns="0" rIns="0" bIns="0" rtlCol="0" anchor="ctr"/>
          <a:lstStyle/>
          <a:p>
            <a:pPr marL="0" indent="0">
              <a:buNone/>
            </a:pPr>
            <a:r>
              <a:rPr lang="en-US" sz="1250" dirty="0">
                <a:solidFill>
                  <a:srgbClr val="22D3EE"/>
                </a:solidFill>
                <a:latin typeface="Courier New" pitchFamily="34" charset="0"/>
                <a:ea typeface="Courier New" pitchFamily="34" charset="-122"/>
                <a:cs typeface="Courier New" pitchFamily="34" charset="-120"/>
                <a:hlinkClick r:id="rId3"/>
              </a:rPr>
              <a:t>github.com/kian4A/bootcamp_ML  ·  math_handsOn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02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PROBLEM STATEMENT</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Can a 64 × 64 face be described by only k numbers?</a:t>
            </a:r>
            <a:endParaRPr lang="en-US" sz="2800" dirty="0"/>
          </a:p>
        </p:txBody>
      </p:sp>
      <p:sp>
        <p:nvSpPr>
          <p:cNvPr id="7" name="Shape 4"/>
          <p:cNvSpPr/>
          <p:nvPr/>
        </p:nvSpPr>
        <p:spPr>
          <a:xfrm>
            <a:off x="548640" y="1417320"/>
            <a:ext cx="11094415" cy="1207008"/>
          </a:xfrm>
          <a:prstGeom prst="roundRect">
            <a:avLst>
              <a:gd name="adj" fmla="val 6818"/>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41248" y="1627632"/>
            <a:ext cx="10509199" cy="914400"/>
          </a:xfrm>
          <a:prstGeom prst="rect">
            <a:avLst/>
          </a:prstGeom>
          <a:noFill/>
          <a:ln/>
        </p:spPr>
        <p:txBody>
          <a:bodyPr wrap="square" lIns="0" tIns="0" rIns="0" bIns="0" rtlCol="0" anchor="t"/>
          <a:lstStyle/>
          <a:p>
            <a:pPr marL="0" indent="0">
              <a:lnSpc>
                <a:spcPct val="122000"/>
              </a:lnSpc>
              <a:buNone/>
            </a:pPr>
            <a:r>
              <a:rPr lang="en-US" sz="1300" dirty="0">
                <a:solidFill>
                  <a:srgbClr val="F8FAFC"/>
                </a:solidFill>
                <a:latin typeface="Arial" pitchFamily="34" charset="0"/>
                <a:ea typeface="Arial" pitchFamily="34" charset="-122"/>
                <a:cs typeface="Arial" pitchFamily="34" charset="-120"/>
              </a:rPr>
              <a:t>Every image is a point in a 4096-dimensional pixel space, but real faces do not fill that space — they cluster on a much smaller set of shared directions of variation. PCA learns those directions, called eigenfaces, from the training images only. A face is then described by its coordinates along the first k of them, and those coordinates must still support both reconstruction and identity recognition.</a:t>
            </a:r>
            <a:endParaRPr lang="en-US" sz="1300" dirty="0"/>
          </a:p>
        </p:txBody>
      </p:sp>
      <p:sp>
        <p:nvSpPr>
          <p:cNvPr id="9" name="Shape 6"/>
          <p:cNvSpPr/>
          <p:nvPr/>
        </p:nvSpPr>
        <p:spPr>
          <a:xfrm>
            <a:off x="548640" y="2926080"/>
            <a:ext cx="2581580" cy="1371600"/>
          </a:xfrm>
          <a:prstGeom prst="roundRect">
            <a:avLst>
              <a:gd name="adj" fmla="val 6000"/>
            </a:avLst>
          </a:prstGeom>
          <a:solidFill>
            <a:srgbClr val="141B2D"/>
          </a:solidFill>
          <a:ln w="9525">
            <a:solidFill>
              <a:srgbClr val="27324A"/>
            </a:solidFill>
            <a:prstDash val="solid"/>
          </a:ln>
        </p:spPr>
        <p:txBody>
          <a:bodyPr/>
          <a:lstStyle/>
          <a:p>
            <a:endParaRPr lang="en-US"/>
          </a:p>
        </p:txBody>
      </p:sp>
      <p:sp>
        <p:nvSpPr>
          <p:cNvPr id="10" name="Text 7"/>
          <p:cNvSpPr txBox="1"/>
          <p:nvPr/>
        </p:nvSpPr>
        <p:spPr>
          <a:xfrm>
            <a:off x="548640" y="3108960"/>
            <a:ext cx="2581580" cy="64008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64²</a:t>
            </a:r>
            <a:endParaRPr lang="en-US" sz="3400" dirty="0"/>
          </a:p>
        </p:txBody>
      </p:sp>
      <p:sp>
        <p:nvSpPr>
          <p:cNvPr id="11" name="Text 8"/>
          <p:cNvSpPr txBox="1"/>
          <p:nvPr/>
        </p:nvSpPr>
        <p:spPr>
          <a:xfrm>
            <a:off x="548640" y="3794760"/>
            <a:ext cx="2581580" cy="292608"/>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pixels per image</a:t>
            </a:r>
            <a:endParaRPr lang="en-US" sz="1100" dirty="0"/>
          </a:p>
        </p:txBody>
      </p:sp>
      <p:sp>
        <p:nvSpPr>
          <p:cNvPr id="12" name="Shape 9"/>
          <p:cNvSpPr/>
          <p:nvPr/>
        </p:nvSpPr>
        <p:spPr>
          <a:xfrm>
            <a:off x="3386252" y="2926080"/>
            <a:ext cx="2581580" cy="1371600"/>
          </a:xfrm>
          <a:prstGeom prst="roundRect">
            <a:avLst>
              <a:gd name="adj" fmla="val 6000"/>
            </a:avLst>
          </a:prstGeom>
          <a:solidFill>
            <a:srgbClr val="141B2D"/>
          </a:solidFill>
          <a:ln w="9525">
            <a:solidFill>
              <a:srgbClr val="27324A"/>
            </a:solidFill>
            <a:prstDash val="solid"/>
          </a:ln>
        </p:spPr>
        <p:txBody>
          <a:bodyPr/>
          <a:lstStyle/>
          <a:p>
            <a:endParaRPr lang="en-US"/>
          </a:p>
        </p:txBody>
      </p:sp>
      <p:sp>
        <p:nvSpPr>
          <p:cNvPr id="13" name="Text 10"/>
          <p:cNvSpPr txBox="1"/>
          <p:nvPr/>
        </p:nvSpPr>
        <p:spPr>
          <a:xfrm>
            <a:off x="3386252" y="3108960"/>
            <a:ext cx="2581580" cy="64008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4096</a:t>
            </a:r>
            <a:endParaRPr lang="en-US" sz="3400" dirty="0"/>
          </a:p>
        </p:txBody>
      </p:sp>
      <p:sp>
        <p:nvSpPr>
          <p:cNvPr id="14" name="Text 11"/>
          <p:cNvSpPr txBox="1"/>
          <p:nvPr/>
        </p:nvSpPr>
        <p:spPr>
          <a:xfrm>
            <a:off x="3386252" y="3794760"/>
            <a:ext cx="2581580" cy="292608"/>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feature dimension d</a:t>
            </a:r>
            <a:endParaRPr lang="en-US" sz="1100" dirty="0"/>
          </a:p>
        </p:txBody>
      </p:sp>
      <p:sp>
        <p:nvSpPr>
          <p:cNvPr id="15" name="Shape 12"/>
          <p:cNvSpPr/>
          <p:nvPr/>
        </p:nvSpPr>
        <p:spPr>
          <a:xfrm>
            <a:off x="6223864" y="2926080"/>
            <a:ext cx="2581580" cy="1371600"/>
          </a:xfrm>
          <a:prstGeom prst="roundRect">
            <a:avLst>
              <a:gd name="adj" fmla="val 6000"/>
            </a:avLst>
          </a:prstGeom>
          <a:solidFill>
            <a:srgbClr val="141B2D"/>
          </a:solidFill>
          <a:ln w="9525">
            <a:solidFill>
              <a:srgbClr val="27324A"/>
            </a:solidFill>
            <a:prstDash val="solid"/>
          </a:ln>
        </p:spPr>
        <p:txBody>
          <a:bodyPr/>
          <a:lstStyle/>
          <a:p>
            <a:endParaRPr lang="en-US"/>
          </a:p>
        </p:txBody>
      </p:sp>
      <p:sp>
        <p:nvSpPr>
          <p:cNvPr id="16" name="Text 13"/>
          <p:cNvSpPr txBox="1"/>
          <p:nvPr/>
        </p:nvSpPr>
        <p:spPr>
          <a:xfrm>
            <a:off x="6223864" y="3108960"/>
            <a:ext cx="2581580" cy="64008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40</a:t>
            </a:r>
            <a:endParaRPr lang="en-US" sz="3400" dirty="0"/>
          </a:p>
        </p:txBody>
      </p:sp>
      <p:sp>
        <p:nvSpPr>
          <p:cNvPr id="17" name="Text 14"/>
          <p:cNvSpPr txBox="1"/>
          <p:nvPr/>
        </p:nvSpPr>
        <p:spPr>
          <a:xfrm>
            <a:off x="6223864" y="3794760"/>
            <a:ext cx="2581580" cy="292608"/>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identities</a:t>
            </a:r>
            <a:endParaRPr lang="en-US" sz="1100" dirty="0"/>
          </a:p>
        </p:txBody>
      </p:sp>
      <p:sp>
        <p:nvSpPr>
          <p:cNvPr id="18" name="Shape 15"/>
          <p:cNvSpPr/>
          <p:nvPr/>
        </p:nvSpPr>
        <p:spPr>
          <a:xfrm>
            <a:off x="9061475" y="2926080"/>
            <a:ext cx="2581580" cy="1371600"/>
          </a:xfrm>
          <a:prstGeom prst="roundRect">
            <a:avLst>
              <a:gd name="adj" fmla="val 6000"/>
            </a:avLst>
          </a:prstGeom>
          <a:solidFill>
            <a:srgbClr val="141B2D"/>
          </a:solidFill>
          <a:ln w="9525">
            <a:solidFill>
              <a:srgbClr val="27324A"/>
            </a:solidFill>
            <a:prstDash val="solid"/>
          </a:ln>
        </p:spPr>
        <p:txBody>
          <a:bodyPr/>
          <a:lstStyle/>
          <a:p>
            <a:endParaRPr lang="en-US"/>
          </a:p>
        </p:txBody>
      </p:sp>
      <p:sp>
        <p:nvSpPr>
          <p:cNvPr id="19" name="Text 16"/>
          <p:cNvSpPr txBox="1"/>
          <p:nvPr/>
        </p:nvSpPr>
        <p:spPr>
          <a:xfrm>
            <a:off x="9061475" y="3108960"/>
            <a:ext cx="2581580" cy="64008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400</a:t>
            </a:r>
            <a:endParaRPr lang="en-US" sz="3400" dirty="0"/>
          </a:p>
        </p:txBody>
      </p:sp>
      <p:sp>
        <p:nvSpPr>
          <p:cNvPr id="20" name="Text 17"/>
          <p:cNvSpPr txBox="1"/>
          <p:nvPr/>
        </p:nvSpPr>
        <p:spPr>
          <a:xfrm>
            <a:off x="9061475" y="3794760"/>
            <a:ext cx="2581580" cy="292608"/>
          </a:xfrm>
          <a:prstGeom prst="rect">
            <a:avLst/>
          </a:prstGeom>
          <a:noFill/>
          <a:ln/>
        </p:spPr>
        <p:txBody>
          <a:bodyPr wrap="square" lIns="0" tIns="0" rIns="0" bIns="0"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grayscale images</a:t>
            </a:r>
            <a:endParaRPr lang="en-US" sz="1100" dirty="0"/>
          </a:p>
        </p:txBody>
      </p:sp>
      <p:sp>
        <p:nvSpPr>
          <p:cNvPr id="21" name="Shape 18"/>
          <p:cNvSpPr/>
          <p:nvPr/>
        </p:nvSpPr>
        <p:spPr>
          <a:xfrm>
            <a:off x="548640" y="4617720"/>
            <a:ext cx="11094415" cy="1143000"/>
          </a:xfrm>
          <a:prstGeom prst="roundRect">
            <a:avLst>
              <a:gd name="adj" fmla="val 7200"/>
            </a:avLst>
          </a:prstGeom>
          <a:solidFill>
            <a:srgbClr val="141B2D"/>
          </a:solidFill>
          <a:ln w="9525">
            <a:solidFill>
              <a:srgbClr val="27324A"/>
            </a:solidFill>
            <a:prstDash val="solid"/>
          </a:ln>
        </p:spPr>
        <p:txBody>
          <a:bodyPr/>
          <a:lstStyle/>
          <a:p>
            <a:endParaRPr lang="en-US"/>
          </a:p>
        </p:txBody>
      </p:sp>
      <p:sp>
        <p:nvSpPr>
          <p:cNvPr id="22" name="Text 19"/>
          <p:cNvSpPr txBox="1"/>
          <p:nvPr/>
        </p:nvSpPr>
        <p:spPr>
          <a:xfrm>
            <a:off x="841248" y="4800600"/>
            <a:ext cx="45720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OLIVETTI FACES DATASET</a:t>
            </a:r>
            <a:endParaRPr lang="en-US" sz="1100" dirty="0"/>
          </a:p>
        </p:txBody>
      </p:sp>
      <p:sp>
        <p:nvSpPr>
          <p:cNvPr id="23" name="Text 20"/>
          <p:cNvSpPr txBox="1"/>
          <p:nvPr/>
        </p:nvSpPr>
        <p:spPr>
          <a:xfrm>
            <a:off x="841248" y="5084064"/>
            <a:ext cx="10509199" cy="54864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10 images per identity, already cropped and aligned, loaded through fetch_olivetti_faces. Every pixel value is a float in [0, 1], so the mean squared errors reported later are on that same scale.</a:t>
            </a:r>
            <a:endParaRPr lang="en-US" sz="1200" dirty="0"/>
          </a:p>
        </p:txBody>
      </p:sp>
      <p:sp>
        <p:nvSpPr>
          <p:cNvPr id="24" name="Text 21"/>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k = number of principal components (eigenfaces) retained  ·  d = feature dimension of one image = 4096 pixels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03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PROJECT ROADMAP</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Three Phases, Fifteen Steps</a:t>
            </a:r>
            <a:endParaRPr lang="en-US" sz="2800" dirty="0"/>
          </a:p>
        </p:txBody>
      </p:sp>
      <p:sp>
        <p:nvSpPr>
          <p:cNvPr id="7" name="Shape 4"/>
          <p:cNvSpPr/>
          <p:nvPr/>
        </p:nvSpPr>
        <p:spPr>
          <a:xfrm>
            <a:off x="548640" y="1417320"/>
            <a:ext cx="3503066" cy="2971800"/>
          </a:xfrm>
          <a:prstGeom prst="roundRect">
            <a:avLst>
              <a:gd name="adj" fmla="val 2769"/>
            </a:avLst>
          </a:prstGeom>
          <a:solidFill>
            <a:srgbClr val="141B2D"/>
          </a:solidFill>
          <a:ln w="9525">
            <a:solidFill>
              <a:srgbClr val="27324A"/>
            </a:solidFill>
            <a:prstDash val="solid"/>
          </a:ln>
        </p:spPr>
        <p:txBody>
          <a:bodyPr/>
          <a:lstStyle/>
          <a:p>
            <a:endParaRPr lang="en-US"/>
          </a:p>
        </p:txBody>
      </p:sp>
      <p:sp>
        <p:nvSpPr>
          <p:cNvPr id="8" name="Shape 5"/>
          <p:cNvSpPr/>
          <p:nvPr/>
        </p:nvSpPr>
        <p:spPr>
          <a:xfrm>
            <a:off x="804672" y="1645920"/>
            <a:ext cx="1051560" cy="292608"/>
          </a:xfrm>
          <a:prstGeom prst="roundRect">
            <a:avLst>
              <a:gd name="adj" fmla="val 18750"/>
            </a:avLst>
          </a:prstGeom>
          <a:solidFill>
            <a:srgbClr val="22D3EE"/>
          </a:solidFill>
          <a:ln w="12700">
            <a:solidFill>
              <a:srgbClr val="22D3EE"/>
            </a:solidFill>
            <a:prstDash val="solid"/>
          </a:ln>
        </p:spPr>
        <p:txBody>
          <a:bodyPr/>
          <a:lstStyle/>
          <a:p>
            <a:endParaRPr lang="en-US"/>
          </a:p>
        </p:txBody>
      </p:sp>
      <p:sp>
        <p:nvSpPr>
          <p:cNvPr id="9" name="Text 6"/>
          <p:cNvSpPr txBox="1"/>
          <p:nvPr/>
        </p:nvSpPr>
        <p:spPr>
          <a:xfrm>
            <a:off x="804672" y="1645920"/>
            <a:ext cx="1051560" cy="292608"/>
          </a:xfrm>
          <a:prstGeom prst="rect">
            <a:avLst/>
          </a:prstGeom>
          <a:noFill/>
          <a:ln/>
        </p:spPr>
        <p:txBody>
          <a:bodyPr wrap="square" lIns="0" tIns="0" rIns="0" bIns="0" rtlCol="0" anchor="ctr"/>
          <a:lstStyle/>
          <a:p>
            <a:pPr marL="0" indent="0" algn="ctr">
              <a:buNone/>
            </a:pPr>
            <a:r>
              <a:rPr lang="en-US" sz="950" b="1" dirty="0">
                <a:solidFill>
                  <a:srgbClr val="0B0F19"/>
                </a:solidFill>
                <a:latin typeface="Arial" pitchFamily="34" charset="0"/>
                <a:ea typeface="Arial" pitchFamily="34" charset="-122"/>
                <a:cs typeface="Arial" pitchFamily="34" charset="-120"/>
              </a:rPr>
              <a:t>PHASE 1</a:t>
            </a:r>
            <a:endParaRPr lang="en-US" sz="950" dirty="0"/>
          </a:p>
        </p:txBody>
      </p:sp>
      <p:sp>
        <p:nvSpPr>
          <p:cNvPr id="10" name="Text 7"/>
          <p:cNvSpPr txBox="1"/>
          <p:nvPr/>
        </p:nvSpPr>
        <p:spPr>
          <a:xfrm>
            <a:off x="804672" y="2048256"/>
            <a:ext cx="2991002" cy="310896"/>
          </a:xfrm>
          <a:prstGeom prst="rect">
            <a:avLst/>
          </a:prstGeom>
          <a:noFill/>
          <a:ln/>
        </p:spPr>
        <p:txBody>
          <a:bodyPr wrap="square" lIns="0" tIns="0" rIns="0" bIns="0" rtlCol="0" anchor="ctr"/>
          <a:lstStyle/>
          <a:p>
            <a:pPr marL="0" indent="0">
              <a:buNone/>
            </a:pPr>
            <a:r>
              <a:rPr lang="en-US" sz="1600" b="1" dirty="0">
                <a:solidFill>
                  <a:srgbClr val="F8FAFC"/>
                </a:solidFill>
                <a:latin typeface="Arial" pitchFamily="34" charset="0"/>
                <a:ea typeface="Arial" pitchFamily="34" charset="-122"/>
                <a:cs typeface="Arial" pitchFamily="34" charset="-120"/>
              </a:rPr>
              <a:t>Data Preparation</a:t>
            </a:r>
            <a:endParaRPr lang="en-US" sz="1600" dirty="0"/>
          </a:p>
        </p:txBody>
      </p:sp>
      <p:sp>
        <p:nvSpPr>
          <p:cNvPr id="11" name="Text 8"/>
          <p:cNvSpPr txBox="1"/>
          <p:nvPr/>
        </p:nvSpPr>
        <p:spPr>
          <a:xfrm>
            <a:off x="804672" y="2450592"/>
            <a:ext cx="2991002" cy="1874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Load the data and inspect shapes</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Shuffle each identity with seed 42</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Build five rotating 70/10/20 folds</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Vectorise images into 4096-d rows</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Centre with the TRAIN mean only</a:t>
            </a:r>
            <a:endParaRPr lang="en-US" sz="1100" dirty="0"/>
          </a:p>
        </p:txBody>
      </p:sp>
      <p:sp>
        <p:nvSpPr>
          <p:cNvPr id="12" name="Shape 9"/>
          <p:cNvSpPr/>
          <p:nvPr/>
        </p:nvSpPr>
        <p:spPr>
          <a:xfrm>
            <a:off x="4344314" y="1417320"/>
            <a:ext cx="3503066" cy="2971800"/>
          </a:xfrm>
          <a:prstGeom prst="roundRect">
            <a:avLst>
              <a:gd name="adj" fmla="val 2769"/>
            </a:avLst>
          </a:prstGeom>
          <a:solidFill>
            <a:srgbClr val="141B2D"/>
          </a:solidFill>
          <a:ln w="9525">
            <a:solidFill>
              <a:srgbClr val="27324A"/>
            </a:solidFill>
            <a:prstDash val="solid"/>
          </a:ln>
        </p:spPr>
        <p:txBody>
          <a:bodyPr/>
          <a:lstStyle/>
          <a:p>
            <a:endParaRPr lang="en-US"/>
          </a:p>
        </p:txBody>
      </p:sp>
      <p:sp>
        <p:nvSpPr>
          <p:cNvPr id="13" name="Shape 10"/>
          <p:cNvSpPr/>
          <p:nvPr/>
        </p:nvSpPr>
        <p:spPr>
          <a:xfrm>
            <a:off x="4600346" y="1645920"/>
            <a:ext cx="1051560" cy="292608"/>
          </a:xfrm>
          <a:prstGeom prst="roundRect">
            <a:avLst>
              <a:gd name="adj" fmla="val 18750"/>
            </a:avLst>
          </a:prstGeom>
          <a:solidFill>
            <a:srgbClr val="8B5CF6"/>
          </a:solidFill>
          <a:ln w="12700">
            <a:solidFill>
              <a:srgbClr val="8B5CF6"/>
            </a:solidFill>
            <a:prstDash val="solid"/>
          </a:ln>
        </p:spPr>
        <p:txBody>
          <a:bodyPr/>
          <a:lstStyle/>
          <a:p>
            <a:endParaRPr lang="en-US"/>
          </a:p>
        </p:txBody>
      </p:sp>
      <p:sp>
        <p:nvSpPr>
          <p:cNvPr id="14" name="Text 11"/>
          <p:cNvSpPr txBox="1"/>
          <p:nvPr/>
        </p:nvSpPr>
        <p:spPr>
          <a:xfrm>
            <a:off x="4600346" y="1645920"/>
            <a:ext cx="1051560" cy="292608"/>
          </a:xfrm>
          <a:prstGeom prst="rect">
            <a:avLst/>
          </a:prstGeom>
          <a:noFill/>
          <a:ln/>
        </p:spPr>
        <p:txBody>
          <a:bodyPr wrap="square" lIns="0" tIns="0" rIns="0" bIns="0" rtlCol="0" anchor="ctr"/>
          <a:lstStyle/>
          <a:p>
            <a:pPr marL="0" indent="0" algn="ctr">
              <a:buNone/>
            </a:pPr>
            <a:r>
              <a:rPr lang="en-US" sz="950" b="1" dirty="0">
                <a:solidFill>
                  <a:srgbClr val="0B0F19"/>
                </a:solidFill>
                <a:latin typeface="Arial" pitchFamily="34" charset="0"/>
                <a:ea typeface="Arial" pitchFamily="34" charset="-122"/>
                <a:cs typeface="Arial" pitchFamily="34" charset="-120"/>
              </a:rPr>
              <a:t>PHASE 2</a:t>
            </a:r>
            <a:endParaRPr lang="en-US" sz="950" dirty="0"/>
          </a:p>
        </p:txBody>
      </p:sp>
      <p:sp>
        <p:nvSpPr>
          <p:cNvPr id="15" name="Text 12"/>
          <p:cNvSpPr txBox="1"/>
          <p:nvPr/>
        </p:nvSpPr>
        <p:spPr>
          <a:xfrm>
            <a:off x="4600346" y="2048256"/>
            <a:ext cx="2991002" cy="310896"/>
          </a:xfrm>
          <a:prstGeom prst="rect">
            <a:avLst/>
          </a:prstGeom>
          <a:noFill/>
          <a:ln/>
        </p:spPr>
        <p:txBody>
          <a:bodyPr wrap="square" lIns="0" tIns="0" rIns="0" bIns="0" rtlCol="0" anchor="ctr"/>
          <a:lstStyle/>
          <a:p>
            <a:pPr marL="0" indent="0">
              <a:buNone/>
            </a:pPr>
            <a:r>
              <a:rPr lang="en-US" sz="1600" b="1" dirty="0">
                <a:solidFill>
                  <a:srgbClr val="F8FAFC"/>
                </a:solidFill>
                <a:latin typeface="Arial" pitchFamily="34" charset="0"/>
                <a:ea typeface="Arial" pitchFamily="34" charset="-122"/>
                <a:cs typeface="Arial" pitchFamily="34" charset="-120"/>
              </a:rPr>
              <a:t>Subspace Learning</a:t>
            </a:r>
            <a:endParaRPr lang="en-US" sz="1600" dirty="0"/>
          </a:p>
        </p:txBody>
      </p:sp>
      <p:sp>
        <p:nvSpPr>
          <p:cNvPr id="16" name="Text 13"/>
          <p:cNvSpPr txBox="1"/>
          <p:nvPr/>
        </p:nvSpPr>
        <p:spPr>
          <a:xfrm>
            <a:off x="4600346" y="2450592"/>
            <a:ext cx="2991002" cy="1874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Build the covariance matrix C</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Eigendecomposition via np.linalg.eigh</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Sort eigenvectors by eigenvalue ↓</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Project onto the first k eigenfaces</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Reconstruct and inspect visually</a:t>
            </a:r>
            <a:endParaRPr lang="en-US" sz="1100" dirty="0"/>
          </a:p>
        </p:txBody>
      </p:sp>
      <p:sp>
        <p:nvSpPr>
          <p:cNvPr id="17" name="Shape 14"/>
          <p:cNvSpPr/>
          <p:nvPr/>
        </p:nvSpPr>
        <p:spPr>
          <a:xfrm>
            <a:off x="8139989" y="1417320"/>
            <a:ext cx="3503066" cy="2971800"/>
          </a:xfrm>
          <a:prstGeom prst="roundRect">
            <a:avLst>
              <a:gd name="adj" fmla="val 2769"/>
            </a:avLst>
          </a:prstGeom>
          <a:solidFill>
            <a:srgbClr val="141B2D"/>
          </a:solidFill>
          <a:ln w="9525">
            <a:solidFill>
              <a:srgbClr val="27324A"/>
            </a:solidFill>
            <a:prstDash val="solid"/>
          </a:ln>
        </p:spPr>
        <p:txBody>
          <a:bodyPr/>
          <a:lstStyle/>
          <a:p>
            <a:endParaRPr lang="en-US"/>
          </a:p>
        </p:txBody>
      </p:sp>
      <p:sp>
        <p:nvSpPr>
          <p:cNvPr id="18" name="Shape 15"/>
          <p:cNvSpPr/>
          <p:nvPr/>
        </p:nvSpPr>
        <p:spPr>
          <a:xfrm>
            <a:off x="8396021" y="1645920"/>
            <a:ext cx="1051560" cy="292608"/>
          </a:xfrm>
          <a:prstGeom prst="roundRect">
            <a:avLst>
              <a:gd name="adj" fmla="val 18750"/>
            </a:avLst>
          </a:prstGeom>
          <a:solidFill>
            <a:srgbClr val="34D399"/>
          </a:solidFill>
          <a:ln w="12700">
            <a:solidFill>
              <a:srgbClr val="34D399"/>
            </a:solidFill>
            <a:prstDash val="solid"/>
          </a:ln>
        </p:spPr>
        <p:txBody>
          <a:bodyPr/>
          <a:lstStyle/>
          <a:p>
            <a:endParaRPr lang="en-US"/>
          </a:p>
        </p:txBody>
      </p:sp>
      <p:sp>
        <p:nvSpPr>
          <p:cNvPr id="19" name="Text 16"/>
          <p:cNvSpPr txBox="1"/>
          <p:nvPr/>
        </p:nvSpPr>
        <p:spPr>
          <a:xfrm>
            <a:off x="8396021" y="1645920"/>
            <a:ext cx="1051560" cy="292608"/>
          </a:xfrm>
          <a:prstGeom prst="rect">
            <a:avLst/>
          </a:prstGeom>
          <a:noFill/>
          <a:ln/>
        </p:spPr>
        <p:txBody>
          <a:bodyPr wrap="square" lIns="0" tIns="0" rIns="0" bIns="0" rtlCol="0" anchor="ctr"/>
          <a:lstStyle/>
          <a:p>
            <a:pPr marL="0" indent="0" algn="ctr">
              <a:buNone/>
            </a:pPr>
            <a:r>
              <a:rPr lang="en-US" sz="950" b="1" dirty="0">
                <a:solidFill>
                  <a:srgbClr val="0B0F19"/>
                </a:solidFill>
                <a:latin typeface="Arial" pitchFamily="34" charset="0"/>
                <a:ea typeface="Arial" pitchFamily="34" charset="-122"/>
                <a:cs typeface="Arial" pitchFamily="34" charset="-120"/>
              </a:rPr>
              <a:t>PHASE 3</a:t>
            </a:r>
            <a:endParaRPr lang="en-US" sz="950" dirty="0"/>
          </a:p>
        </p:txBody>
      </p:sp>
      <p:sp>
        <p:nvSpPr>
          <p:cNvPr id="20" name="Text 17"/>
          <p:cNvSpPr txBox="1"/>
          <p:nvPr/>
        </p:nvSpPr>
        <p:spPr>
          <a:xfrm>
            <a:off x="8396021" y="2048256"/>
            <a:ext cx="2991002" cy="310896"/>
          </a:xfrm>
          <a:prstGeom prst="rect">
            <a:avLst/>
          </a:prstGeom>
          <a:noFill/>
          <a:ln/>
        </p:spPr>
        <p:txBody>
          <a:bodyPr wrap="square" lIns="0" tIns="0" rIns="0" bIns="0" rtlCol="0" anchor="ctr"/>
          <a:lstStyle/>
          <a:p>
            <a:pPr marL="0" indent="0">
              <a:buNone/>
            </a:pPr>
            <a:r>
              <a:rPr lang="en-US" sz="1600" b="1" dirty="0">
                <a:solidFill>
                  <a:srgbClr val="F8FAFC"/>
                </a:solidFill>
                <a:latin typeface="Arial" pitchFamily="34" charset="0"/>
                <a:ea typeface="Arial" pitchFamily="34" charset="-122"/>
                <a:cs typeface="Arial" pitchFamily="34" charset="-120"/>
              </a:rPr>
              <a:t>Evaluation</a:t>
            </a:r>
            <a:endParaRPr lang="en-US" sz="1600" dirty="0"/>
          </a:p>
        </p:txBody>
      </p:sp>
      <p:sp>
        <p:nvSpPr>
          <p:cNvPr id="21" name="Text 18"/>
          <p:cNvSpPr txBox="1"/>
          <p:nvPr/>
        </p:nvSpPr>
        <p:spPr>
          <a:xfrm>
            <a:off x="8396021" y="2450592"/>
            <a:ext cx="2991002" cy="1874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Reconstruction MSE across k</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Cumulative explained variance</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Elbow and silhouette candidates</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KNN recognition in PCA space</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Five-fold cross-validated test scores</a:t>
            </a:r>
            <a:endParaRPr lang="en-US" sz="1100" dirty="0"/>
          </a:p>
        </p:txBody>
      </p:sp>
      <p:sp>
        <p:nvSpPr>
          <p:cNvPr id="22" name="Shape 19"/>
          <p:cNvSpPr/>
          <p:nvPr/>
        </p:nvSpPr>
        <p:spPr>
          <a:xfrm>
            <a:off x="548640" y="4709160"/>
            <a:ext cx="11094415" cy="1005840"/>
          </a:xfrm>
          <a:prstGeom prst="roundRect">
            <a:avLst>
              <a:gd name="adj" fmla="val 7273"/>
            </a:avLst>
          </a:prstGeom>
          <a:solidFill>
            <a:srgbClr val="3B1D1D"/>
          </a:solidFill>
          <a:ln w="9525">
            <a:solidFill>
              <a:srgbClr val="7F2A2A"/>
            </a:solidFill>
            <a:prstDash val="solid"/>
          </a:ln>
        </p:spPr>
        <p:txBody>
          <a:bodyPr/>
          <a:lstStyle/>
          <a:p>
            <a:endParaRPr lang="en-US"/>
          </a:p>
        </p:txBody>
      </p:sp>
      <p:sp>
        <p:nvSpPr>
          <p:cNvPr id="23" name="Text 20"/>
          <p:cNvSpPr txBox="1"/>
          <p:nvPr/>
        </p:nvSpPr>
        <p:spPr>
          <a:xfrm>
            <a:off x="841248" y="4882896"/>
            <a:ext cx="2286000" cy="219456"/>
          </a:xfrm>
          <a:prstGeom prst="rect">
            <a:avLst/>
          </a:prstGeom>
          <a:noFill/>
          <a:ln/>
        </p:spPr>
        <p:txBody>
          <a:bodyPr wrap="square" lIns="0" tIns="0" rIns="0" bIns="0" rtlCol="0" anchor="ctr"/>
          <a:lstStyle/>
          <a:p>
            <a:pPr marL="0" indent="0">
              <a:buNone/>
            </a:pPr>
            <a:r>
              <a:rPr lang="en-US" sz="1000" b="1" kern="0" spc="180" dirty="0">
                <a:solidFill>
                  <a:srgbClr val="FCA5A5"/>
                </a:solidFill>
                <a:latin typeface="Arial" pitchFamily="34" charset="0"/>
                <a:ea typeface="Arial" pitchFamily="34" charset="-122"/>
                <a:cs typeface="Arial" pitchFamily="34" charset="-120"/>
              </a:rPr>
              <a:t>GOLDEN RULE</a:t>
            </a:r>
            <a:endParaRPr lang="en-US" sz="1000" dirty="0"/>
          </a:p>
        </p:txBody>
      </p:sp>
      <p:sp>
        <p:nvSpPr>
          <p:cNvPr id="24" name="Text 21"/>
          <p:cNvSpPr txBox="1"/>
          <p:nvPr/>
        </p:nvSpPr>
        <p:spPr>
          <a:xfrm>
            <a:off x="841248" y="5129784"/>
            <a:ext cx="10509199" cy="502920"/>
          </a:xfrm>
          <a:prstGeom prst="rect">
            <a:avLst/>
          </a:prstGeom>
          <a:noFill/>
          <a:ln/>
        </p:spPr>
        <p:txBody>
          <a:bodyPr wrap="square" lIns="0" tIns="0" rIns="0" bIns="0" rtlCol="0" anchor="t"/>
          <a:lstStyle/>
          <a:p>
            <a:pPr marL="0" indent="0">
              <a:lnSpc>
                <a:spcPct val="122000"/>
              </a:lnSpc>
              <a:buNone/>
            </a:pPr>
            <a:r>
              <a:rPr lang="en-US" sz="1150" dirty="0">
                <a:solidFill>
                  <a:srgbClr val="F8FAFC"/>
                </a:solidFill>
                <a:latin typeface="Arial" pitchFamily="34" charset="0"/>
                <a:ea typeface="Arial" pitchFamily="34" charset="-122"/>
                <a:cs typeface="Arial" pitchFamily="34" charset="-120"/>
              </a:rPr>
              <a:t>No step is reordered. The mean face, the eigenfaces and every learned parameter come from the training images of that fold only. Each fold's test images are touched after k and n_neighbors are already frozen on validation — no data leakage.</a:t>
            </a:r>
            <a:endParaRPr lang="en-US" sz="1150" dirty="0"/>
          </a:p>
        </p:txBody>
      </p:sp>
      <p:sp>
        <p:nvSpPr>
          <p:cNvPr id="25" name="Text 22"/>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k = number of principal components retained  ·  C = sample covariance matrix of the centred training data  ·  n_neighbors = number of training faces that vote in the KNN decision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04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TEAM 01 MISSION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Compression &amp; Reconstruction — The Core Algebra</a:t>
            </a:r>
            <a:endParaRPr lang="en-US" sz="2800" dirty="0"/>
          </a:p>
        </p:txBody>
      </p:sp>
      <p:sp>
        <p:nvSpPr>
          <p:cNvPr id="7" name="Shape 4"/>
          <p:cNvSpPr/>
          <p:nvPr/>
        </p:nvSpPr>
        <p:spPr>
          <a:xfrm>
            <a:off x="548640" y="1417320"/>
            <a:ext cx="4160520" cy="1828800"/>
          </a:xfrm>
          <a:prstGeom prst="roundRect">
            <a:avLst>
              <a:gd name="adj" fmla="val 4500"/>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45920"/>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HYPOTHESIS</a:t>
            </a:r>
            <a:endParaRPr lang="en-US" sz="1100" dirty="0"/>
          </a:p>
        </p:txBody>
      </p:sp>
      <p:sp>
        <p:nvSpPr>
          <p:cNvPr id="9" name="Text 6"/>
          <p:cNvSpPr txBox="1"/>
          <p:nvPr/>
        </p:nvSpPr>
        <p:spPr>
          <a:xfrm>
            <a:off x="822960" y="1938528"/>
            <a:ext cx="3611880" cy="1280160"/>
          </a:xfrm>
          <a:prstGeom prst="rect">
            <a:avLst/>
          </a:prstGeom>
          <a:noFill/>
          <a:ln/>
        </p:spPr>
        <p:txBody>
          <a:bodyPr wrap="square" lIns="0" tIns="0" rIns="0" bIns="0" rtlCol="0" anchor="t"/>
          <a:lstStyle/>
          <a:p>
            <a:pPr marL="0" indent="0">
              <a:lnSpc>
                <a:spcPct val="122000"/>
              </a:lnSpc>
              <a:buNone/>
            </a:pPr>
            <a:r>
              <a:rPr lang="en-US" sz="1250" dirty="0">
                <a:solidFill>
                  <a:srgbClr val="F8FAFC"/>
                </a:solidFill>
                <a:latin typeface="Arial" pitchFamily="34" charset="0"/>
                <a:ea typeface="Arial" pitchFamily="34" charset="-122"/>
                <a:cs typeface="Arial" pitchFamily="34" charset="-120"/>
              </a:rPr>
              <a:t>Reconstruction error falls as more components are kept, but past some point each additional component buys very little. The task is to locate that point and justify it.</a:t>
            </a:r>
            <a:endParaRPr lang="en-US" sz="1250" dirty="0"/>
          </a:p>
        </p:txBody>
      </p:sp>
      <p:sp>
        <p:nvSpPr>
          <p:cNvPr id="10" name="Shape 7"/>
          <p:cNvSpPr/>
          <p:nvPr/>
        </p:nvSpPr>
        <p:spPr>
          <a:xfrm>
            <a:off x="548640" y="3401568"/>
            <a:ext cx="4160520" cy="2368296"/>
          </a:xfrm>
          <a:prstGeom prst="roundRect">
            <a:avLst>
              <a:gd name="adj" fmla="val 3475"/>
            </a:avLst>
          </a:prstGeom>
          <a:solidFill>
            <a:srgbClr val="141B2D"/>
          </a:solidFill>
          <a:ln w="9525">
            <a:solidFill>
              <a:srgbClr val="27324A"/>
            </a:solidFill>
            <a:prstDash val="solid"/>
          </a:ln>
        </p:spPr>
        <p:txBody>
          <a:bodyPr/>
          <a:lstStyle/>
          <a:p>
            <a:endParaRPr lang="en-US"/>
          </a:p>
        </p:txBody>
      </p:sp>
      <p:sp>
        <p:nvSpPr>
          <p:cNvPr id="11" name="Text 8"/>
          <p:cNvSpPr txBox="1"/>
          <p:nvPr/>
        </p:nvSpPr>
        <p:spPr>
          <a:xfrm>
            <a:off x="822960" y="3621024"/>
            <a:ext cx="36576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TESTED COMPONENT GRID</a:t>
            </a:r>
            <a:endParaRPr lang="en-US" sz="1100" dirty="0"/>
          </a:p>
        </p:txBody>
      </p:sp>
      <p:sp>
        <p:nvSpPr>
          <p:cNvPr id="12" name="Text 9"/>
          <p:cNvSpPr txBox="1"/>
          <p:nvPr/>
        </p:nvSpPr>
        <p:spPr>
          <a:xfrm>
            <a:off x="731520" y="3931920"/>
            <a:ext cx="3977640" cy="365760"/>
          </a:xfrm>
          <a:prstGeom prst="rect">
            <a:avLst/>
          </a:prstGeom>
          <a:noFill/>
          <a:ln/>
        </p:spPr>
        <p:txBody>
          <a:bodyPr wrap="square" lIns="0" tIns="0" rIns="0" bIns="0" rtlCol="0" anchor="ctr"/>
          <a:lstStyle/>
          <a:p>
            <a:pPr marL="0" indent="0" algn="ctr">
              <a:buNone/>
            </a:pPr>
            <a:r>
              <a:rPr lang="en-US" sz="1100" dirty="0">
                <a:solidFill>
                  <a:srgbClr val="22D3EE"/>
                </a:solidFill>
                <a:latin typeface="Courier New" pitchFamily="34" charset="0"/>
                <a:ea typeface="Courier New" pitchFamily="34" charset="-122"/>
                <a:cs typeface="Courier New" pitchFamily="34" charset="-120"/>
              </a:rPr>
              <a:t>k ∈ { 1, 5, 10, 20, 50, 100, 150, 250 }</a:t>
            </a:r>
            <a:endParaRPr lang="en-US" sz="1100" dirty="0"/>
          </a:p>
        </p:txBody>
      </p:sp>
      <p:sp>
        <p:nvSpPr>
          <p:cNvPr id="13" name="Text 10"/>
          <p:cNvSpPr txBox="1"/>
          <p:nvPr/>
        </p:nvSpPr>
        <p:spPr>
          <a:xfrm>
            <a:off x="822960" y="4443984"/>
            <a:ext cx="3611880" cy="118872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Deliverables: an error curve and a cumulative-variance curve, an original-vs-reconstructed row across k, and a justified recommendation for k.</a:t>
            </a:r>
            <a:endParaRPr lang="en-US" sz="1200" dirty="0"/>
          </a:p>
        </p:txBody>
      </p:sp>
      <p:sp>
        <p:nvSpPr>
          <p:cNvPr id="14" name="Shape 11"/>
          <p:cNvSpPr/>
          <p:nvPr/>
        </p:nvSpPr>
        <p:spPr>
          <a:xfrm>
            <a:off x="5029200" y="1417320"/>
            <a:ext cx="6613855"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15" name="Text 12"/>
          <p:cNvSpPr txBox="1"/>
          <p:nvPr/>
        </p:nvSpPr>
        <p:spPr>
          <a:xfrm>
            <a:off x="5321808" y="1645920"/>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CORE MATH</a:t>
            </a:r>
            <a:endParaRPr lang="en-US" sz="1100" dirty="0"/>
          </a:p>
        </p:txBody>
      </p:sp>
      <p:sp>
        <p:nvSpPr>
          <p:cNvPr id="16" name="Shape 13"/>
          <p:cNvSpPr/>
          <p:nvPr/>
        </p:nvSpPr>
        <p:spPr>
          <a:xfrm>
            <a:off x="5321808" y="1975104"/>
            <a:ext cx="6028639" cy="658368"/>
          </a:xfrm>
          <a:prstGeom prst="roundRect">
            <a:avLst>
              <a:gd name="adj" fmla="val 8333"/>
            </a:avLst>
          </a:prstGeom>
          <a:solidFill>
            <a:srgbClr val="1B2438"/>
          </a:solidFill>
          <a:ln w="7620">
            <a:solidFill>
              <a:srgbClr val="27324A"/>
            </a:solidFill>
            <a:prstDash val="solid"/>
          </a:ln>
        </p:spPr>
        <p:txBody>
          <a:bodyPr/>
          <a:lstStyle/>
          <a:p>
            <a:endParaRPr lang="en-US"/>
          </a:p>
        </p:txBody>
      </p:sp>
      <p:sp>
        <p:nvSpPr>
          <p:cNvPr id="17" name="Text 14"/>
          <p:cNvSpPr txBox="1"/>
          <p:nvPr/>
        </p:nvSpPr>
        <p:spPr>
          <a:xfrm>
            <a:off x="5532120" y="2020824"/>
            <a:ext cx="2926080" cy="329184"/>
          </a:xfrm>
          <a:prstGeom prst="rect">
            <a:avLst/>
          </a:prstGeom>
          <a:noFill/>
          <a:ln/>
        </p:spPr>
        <p:txBody>
          <a:bodyPr wrap="square" lIns="0" tIns="0" rIns="0" bIns="0" rtlCol="0" anchor="ctr"/>
          <a:lstStyle/>
          <a:p>
            <a:pPr marL="0" indent="0">
              <a:buNone/>
            </a:pPr>
            <a:r>
              <a:rPr lang="en-US" sz="1400" dirty="0">
                <a:solidFill>
                  <a:srgbClr val="F8FAFC"/>
                </a:solidFill>
                <a:latin typeface="Courier New" pitchFamily="34" charset="0"/>
                <a:ea typeface="Courier New" pitchFamily="34" charset="-122"/>
                <a:cs typeface="Courier New" pitchFamily="34" charset="-120"/>
              </a:rPr>
              <a:t>μ = (1/N) Σ xᵢ</a:t>
            </a:r>
            <a:endParaRPr lang="en-US" sz="1400" dirty="0"/>
          </a:p>
        </p:txBody>
      </p:sp>
      <p:sp>
        <p:nvSpPr>
          <p:cNvPr id="18" name="Text 15"/>
          <p:cNvSpPr txBox="1"/>
          <p:nvPr/>
        </p:nvSpPr>
        <p:spPr>
          <a:xfrm>
            <a:off x="5532120" y="2340864"/>
            <a:ext cx="5608015"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training mean face</a:t>
            </a:r>
            <a:endParaRPr lang="en-US" sz="1050" dirty="0"/>
          </a:p>
        </p:txBody>
      </p:sp>
      <p:sp>
        <p:nvSpPr>
          <p:cNvPr id="19" name="Shape 16"/>
          <p:cNvSpPr/>
          <p:nvPr/>
        </p:nvSpPr>
        <p:spPr>
          <a:xfrm>
            <a:off x="5321808" y="2734056"/>
            <a:ext cx="6028639" cy="658368"/>
          </a:xfrm>
          <a:prstGeom prst="roundRect">
            <a:avLst>
              <a:gd name="adj" fmla="val 8333"/>
            </a:avLst>
          </a:prstGeom>
          <a:solidFill>
            <a:srgbClr val="1B2438"/>
          </a:solidFill>
          <a:ln w="7620">
            <a:solidFill>
              <a:srgbClr val="27324A"/>
            </a:solidFill>
            <a:prstDash val="solid"/>
          </a:ln>
        </p:spPr>
        <p:txBody>
          <a:bodyPr/>
          <a:lstStyle/>
          <a:p>
            <a:endParaRPr lang="en-US"/>
          </a:p>
        </p:txBody>
      </p:sp>
      <p:sp>
        <p:nvSpPr>
          <p:cNvPr id="20" name="Text 17"/>
          <p:cNvSpPr txBox="1"/>
          <p:nvPr/>
        </p:nvSpPr>
        <p:spPr>
          <a:xfrm>
            <a:off x="5532120" y="2779776"/>
            <a:ext cx="2926080" cy="329184"/>
          </a:xfrm>
          <a:prstGeom prst="rect">
            <a:avLst/>
          </a:prstGeom>
          <a:noFill/>
          <a:ln/>
        </p:spPr>
        <p:txBody>
          <a:bodyPr wrap="square" lIns="0" tIns="0" rIns="0" bIns="0" rtlCol="0" anchor="ctr"/>
          <a:lstStyle/>
          <a:p>
            <a:pPr marL="0" indent="0">
              <a:buNone/>
            </a:pPr>
            <a:r>
              <a:rPr lang="en-US" sz="1400" dirty="0">
                <a:solidFill>
                  <a:srgbClr val="F8FAFC"/>
                </a:solidFill>
                <a:latin typeface="Courier New" pitchFamily="34" charset="0"/>
                <a:ea typeface="Courier New" pitchFamily="34" charset="-122"/>
                <a:cs typeface="Courier New" pitchFamily="34" charset="-120"/>
              </a:rPr>
              <a:t>X_c = X − μ</a:t>
            </a:r>
            <a:endParaRPr lang="en-US" sz="1400" dirty="0"/>
          </a:p>
        </p:txBody>
      </p:sp>
      <p:sp>
        <p:nvSpPr>
          <p:cNvPr id="21" name="Text 18"/>
          <p:cNvSpPr txBox="1"/>
          <p:nvPr/>
        </p:nvSpPr>
        <p:spPr>
          <a:xfrm>
            <a:off x="5532120" y="3099816"/>
            <a:ext cx="5608015"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mean-centred data</a:t>
            </a:r>
            <a:endParaRPr lang="en-US" sz="1050" dirty="0"/>
          </a:p>
        </p:txBody>
      </p:sp>
      <p:sp>
        <p:nvSpPr>
          <p:cNvPr id="22" name="Shape 19"/>
          <p:cNvSpPr/>
          <p:nvPr/>
        </p:nvSpPr>
        <p:spPr>
          <a:xfrm>
            <a:off x="5321808" y="3493008"/>
            <a:ext cx="6028639" cy="658368"/>
          </a:xfrm>
          <a:prstGeom prst="roundRect">
            <a:avLst>
              <a:gd name="adj" fmla="val 8333"/>
            </a:avLst>
          </a:prstGeom>
          <a:solidFill>
            <a:srgbClr val="1B2438"/>
          </a:solidFill>
          <a:ln w="7620">
            <a:solidFill>
              <a:srgbClr val="27324A"/>
            </a:solidFill>
            <a:prstDash val="solid"/>
          </a:ln>
        </p:spPr>
        <p:txBody>
          <a:bodyPr/>
          <a:lstStyle/>
          <a:p>
            <a:endParaRPr lang="en-US"/>
          </a:p>
        </p:txBody>
      </p:sp>
      <p:sp>
        <p:nvSpPr>
          <p:cNvPr id="23" name="Text 20"/>
          <p:cNvSpPr txBox="1"/>
          <p:nvPr/>
        </p:nvSpPr>
        <p:spPr>
          <a:xfrm>
            <a:off x="5532120" y="3538728"/>
            <a:ext cx="2926080" cy="329184"/>
          </a:xfrm>
          <a:prstGeom prst="rect">
            <a:avLst/>
          </a:prstGeom>
          <a:noFill/>
          <a:ln/>
        </p:spPr>
        <p:txBody>
          <a:bodyPr wrap="square" lIns="0" tIns="0" rIns="0" bIns="0" rtlCol="0" anchor="ctr"/>
          <a:lstStyle/>
          <a:p>
            <a:pPr marL="0" indent="0">
              <a:buNone/>
            </a:pPr>
            <a:r>
              <a:rPr lang="en-US" sz="1400" dirty="0">
                <a:solidFill>
                  <a:srgbClr val="F8FAFC"/>
                </a:solidFill>
                <a:latin typeface="Courier New" pitchFamily="34" charset="0"/>
                <a:ea typeface="Courier New" pitchFamily="34" charset="-122"/>
                <a:cs typeface="Courier New" pitchFamily="34" charset="-120"/>
              </a:rPr>
              <a:t>C = X_cᵀ X_c / (N − 1)</a:t>
            </a:r>
            <a:endParaRPr lang="en-US" sz="1400" dirty="0"/>
          </a:p>
        </p:txBody>
      </p:sp>
      <p:sp>
        <p:nvSpPr>
          <p:cNvPr id="24" name="Text 21"/>
          <p:cNvSpPr txBox="1"/>
          <p:nvPr/>
        </p:nvSpPr>
        <p:spPr>
          <a:xfrm>
            <a:off x="5532120" y="3858768"/>
            <a:ext cx="5608015"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sample covariance matrix</a:t>
            </a:r>
            <a:endParaRPr lang="en-US" sz="1050" dirty="0"/>
          </a:p>
        </p:txBody>
      </p:sp>
      <p:sp>
        <p:nvSpPr>
          <p:cNvPr id="25" name="Shape 22"/>
          <p:cNvSpPr/>
          <p:nvPr/>
        </p:nvSpPr>
        <p:spPr>
          <a:xfrm>
            <a:off x="5321808" y="4251960"/>
            <a:ext cx="6028639" cy="658368"/>
          </a:xfrm>
          <a:prstGeom prst="roundRect">
            <a:avLst>
              <a:gd name="adj" fmla="val 8333"/>
            </a:avLst>
          </a:prstGeom>
          <a:solidFill>
            <a:srgbClr val="1B2438"/>
          </a:solidFill>
          <a:ln w="7620">
            <a:solidFill>
              <a:srgbClr val="27324A"/>
            </a:solidFill>
            <a:prstDash val="solid"/>
          </a:ln>
        </p:spPr>
        <p:txBody>
          <a:bodyPr/>
          <a:lstStyle/>
          <a:p>
            <a:endParaRPr lang="en-US"/>
          </a:p>
        </p:txBody>
      </p:sp>
      <p:sp>
        <p:nvSpPr>
          <p:cNvPr id="26" name="Text 23"/>
          <p:cNvSpPr txBox="1"/>
          <p:nvPr/>
        </p:nvSpPr>
        <p:spPr>
          <a:xfrm>
            <a:off x="5532120" y="4297680"/>
            <a:ext cx="2926080" cy="329184"/>
          </a:xfrm>
          <a:prstGeom prst="rect">
            <a:avLst/>
          </a:prstGeom>
          <a:noFill/>
          <a:ln/>
        </p:spPr>
        <p:txBody>
          <a:bodyPr wrap="square" lIns="0" tIns="0" rIns="0" bIns="0" rtlCol="0" anchor="ctr"/>
          <a:lstStyle/>
          <a:p>
            <a:pPr marL="0" indent="0">
              <a:buNone/>
            </a:pPr>
            <a:r>
              <a:rPr lang="en-US" sz="1400" dirty="0">
                <a:solidFill>
                  <a:srgbClr val="F8FAFC"/>
                </a:solidFill>
                <a:latin typeface="Courier New" pitchFamily="34" charset="0"/>
                <a:ea typeface="Courier New" pitchFamily="34" charset="-122"/>
                <a:cs typeface="Courier New" pitchFamily="34" charset="-120"/>
              </a:rPr>
              <a:t>Z = (X − μ) U_k</a:t>
            </a:r>
            <a:endParaRPr lang="en-US" sz="1400" dirty="0"/>
          </a:p>
        </p:txBody>
      </p:sp>
      <p:sp>
        <p:nvSpPr>
          <p:cNvPr id="27" name="Text 24"/>
          <p:cNvSpPr txBox="1"/>
          <p:nvPr/>
        </p:nvSpPr>
        <p:spPr>
          <a:xfrm>
            <a:off x="5532120" y="4617720"/>
            <a:ext cx="5608015"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projection onto the top-k eigenfaces</a:t>
            </a:r>
            <a:endParaRPr lang="en-US" sz="1050" dirty="0"/>
          </a:p>
        </p:txBody>
      </p:sp>
      <p:sp>
        <p:nvSpPr>
          <p:cNvPr id="28" name="Shape 25"/>
          <p:cNvSpPr/>
          <p:nvPr/>
        </p:nvSpPr>
        <p:spPr>
          <a:xfrm>
            <a:off x="5321808" y="5010912"/>
            <a:ext cx="6028639" cy="658368"/>
          </a:xfrm>
          <a:prstGeom prst="roundRect">
            <a:avLst>
              <a:gd name="adj" fmla="val 8333"/>
            </a:avLst>
          </a:prstGeom>
          <a:solidFill>
            <a:srgbClr val="1B2438"/>
          </a:solidFill>
          <a:ln w="7620">
            <a:solidFill>
              <a:srgbClr val="27324A"/>
            </a:solidFill>
            <a:prstDash val="solid"/>
          </a:ln>
        </p:spPr>
        <p:txBody>
          <a:bodyPr/>
          <a:lstStyle/>
          <a:p>
            <a:endParaRPr lang="en-US"/>
          </a:p>
        </p:txBody>
      </p:sp>
      <p:sp>
        <p:nvSpPr>
          <p:cNvPr id="29" name="Text 26"/>
          <p:cNvSpPr txBox="1"/>
          <p:nvPr/>
        </p:nvSpPr>
        <p:spPr>
          <a:xfrm>
            <a:off x="5532120" y="5056632"/>
            <a:ext cx="2926080" cy="329184"/>
          </a:xfrm>
          <a:prstGeom prst="rect">
            <a:avLst/>
          </a:prstGeom>
          <a:noFill/>
          <a:ln/>
        </p:spPr>
        <p:txBody>
          <a:bodyPr wrap="square" lIns="0" tIns="0" rIns="0" bIns="0" rtlCol="0" anchor="ctr"/>
          <a:lstStyle/>
          <a:p>
            <a:pPr marL="0" indent="0">
              <a:buNone/>
            </a:pPr>
            <a:r>
              <a:rPr lang="en-US" sz="1400" dirty="0">
                <a:solidFill>
                  <a:srgbClr val="F8FAFC"/>
                </a:solidFill>
                <a:latin typeface="Courier New" pitchFamily="34" charset="0"/>
                <a:ea typeface="Courier New" pitchFamily="34" charset="-122"/>
                <a:cs typeface="Courier New" pitchFamily="34" charset="-120"/>
              </a:rPr>
              <a:t>X̂ = Z U_kᵀ + μ</a:t>
            </a:r>
            <a:endParaRPr lang="en-US" sz="1400" dirty="0"/>
          </a:p>
        </p:txBody>
      </p:sp>
      <p:sp>
        <p:nvSpPr>
          <p:cNvPr id="30" name="Text 27"/>
          <p:cNvSpPr txBox="1"/>
          <p:nvPr/>
        </p:nvSpPr>
        <p:spPr>
          <a:xfrm>
            <a:off x="5532120" y="5376672"/>
            <a:ext cx="5608015" cy="237744"/>
          </a:xfrm>
          <a:prstGeom prst="rect">
            <a:avLst/>
          </a:prstGeom>
          <a:noFill/>
          <a:ln/>
        </p:spPr>
        <p:txBody>
          <a:bodyPr wrap="square" lIns="0" tIns="0" rIns="0" bIns="0" rtlCol="0" anchor="ctr"/>
          <a:lstStyle/>
          <a:p>
            <a:pPr marL="0" indent="0">
              <a:buNone/>
            </a:pPr>
            <a:r>
              <a:rPr lang="en-US" sz="1050" dirty="0">
                <a:solidFill>
                  <a:srgbClr val="94A3B8"/>
                </a:solidFill>
                <a:latin typeface="Arial" pitchFamily="34" charset="0"/>
                <a:ea typeface="Arial" pitchFamily="34" charset="-122"/>
                <a:cs typeface="Arial" pitchFamily="34" charset="-120"/>
              </a:rPr>
              <a:t>reconstruction from the k-dim code</a:t>
            </a:r>
            <a:endParaRPr lang="en-US" sz="1050" dirty="0"/>
          </a:p>
        </p:txBody>
      </p:sp>
      <p:sp>
        <p:nvSpPr>
          <p:cNvPr id="31" name="Text 28"/>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850" i="1" dirty="0">
                <a:solidFill>
                  <a:srgbClr val="94A3B8"/>
                </a:solidFill>
                <a:latin typeface="Arial" pitchFamily="34" charset="0"/>
                <a:ea typeface="Arial" pitchFamily="34" charset="-122"/>
                <a:cs typeface="Arial" pitchFamily="34" charset="-120"/>
              </a:rPr>
              <a:t>Symbols:  N = number of training images in the fold (280)  ·  xᵢ = i-th training image as a 4096-vector  ·  μ = training mean face  ·  X = matrix of image rows  ·  X_c = centred data  ·  C = covariance matrix  ·  U_k = first k sorted eigenvectors (the eigenfaces)  ·  Z = k-dimensional code  ·  X̂ = reconstructed images  ·  k = components retained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05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PHASE 1 · PROTOCOL</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Evaluation Protocol — Five Rotating 70 / 10 / 20 Folds</a:t>
            </a:r>
            <a:endParaRPr lang="en-US" sz="2800" dirty="0"/>
          </a:p>
        </p:txBody>
      </p:sp>
      <p:sp>
        <p:nvSpPr>
          <p:cNvPr id="7" name="Shape 4"/>
          <p:cNvSpPr/>
          <p:nvPr/>
        </p:nvSpPr>
        <p:spPr>
          <a:xfrm>
            <a:off x="548640" y="1417320"/>
            <a:ext cx="4846320"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41248" y="1664208"/>
            <a:ext cx="4261104" cy="1234440"/>
          </a:xfrm>
          <a:prstGeom prst="rect">
            <a:avLst/>
          </a:prstGeom>
          <a:noFill/>
          <a:ln/>
        </p:spPr>
        <p:txBody>
          <a:bodyPr wrap="square" lIns="0" tIns="0" rIns="0" bIns="0" rtlCol="0" anchor="t"/>
          <a:lstStyle/>
          <a:p>
            <a:pPr marL="0" indent="0">
              <a:lnSpc>
                <a:spcPct val="122000"/>
              </a:lnSpc>
              <a:buNone/>
            </a:pPr>
            <a:r>
              <a:rPr lang="en-US" sz="1250" dirty="0">
                <a:solidFill>
                  <a:srgbClr val="F8FAFC"/>
                </a:solidFill>
                <a:latin typeface="Arial" pitchFamily="34" charset="0"/>
                <a:ea typeface="Arial" pitchFamily="34" charset="-122"/>
                <a:cs typeface="Arial" pitchFamily="34" charset="-120"/>
              </a:rPr>
              <a:t>Each identity's 10 images are shuffled with seed 42 and cut into five pairs. In round f the f-th pair becomes that round's test pair; the next pair, (f+1) mod 5, contributes one validation image and one training image; the remaining three pairs train.</a:t>
            </a:r>
            <a:endParaRPr lang="en-US" sz="1250" dirty="0"/>
          </a:p>
        </p:txBody>
      </p:sp>
      <p:sp>
        <p:nvSpPr>
          <p:cNvPr id="9" name="Text 6"/>
          <p:cNvSpPr txBox="1"/>
          <p:nvPr/>
        </p:nvSpPr>
        <p:spPr>
          <a:xfrm>
            <a:off x="841248" y="2926080"/>
            <a:ext cx="4261104" cy="1188720"/>
          </a:xfrm>
          <a:prstGeom prst="rect">
            <a:avLst/>
          </a:prstGeom>
          <a:noFill/>
          <a:ln/>
        </p:spPr>
        <p:txBody>
          <a:bodyPr wrap="square" lIns="0" tIns="0" rIns="0" bIns="0" rtlCol="0" anchor="t"/>
          <a:lstStyle/>
          <a:p>
            <a:pPr marL="0" indent="0">
              <a:lnSpc>
                <a:spcPct val="122000"/>
              </a:lnSpc>
              <a:buNone/>
            </a:pPr>
            <a:r>
              <a:rPr lang="en-US" sz="1250" dirty="0">
                <a:solidFill>
                  <a:srgbClr val="F8FAFC"/>
                </a:solidFill>
                <a:latin typeface="Arial" pitchFamily="34" charset="0"/>
                <a:ea typeface="Arial" pitchFamily="34" charset="-122"/>
                <a:cs typeface="Arial" pitchFamily="34" charset="-120"/>
              </a:rPr>
              <a:t>Across the five rounds every one of the 400 images is tested exactly once. The test set rotates rather than being a permanent holdout, so a lucky or unlucky draw of two images per person can no longer decide the reported score on its own.</a:t>
            </a:r>
            <a:endParaRPr lang="en-US" sz="1250" dirty="0"/>
          </a:p>
        </p:txBody>
      </p:sp>
      <p:sp>
        <p:nvSpPr>
          <p:cNvPr id="10" name="Text 7"/>
          <p:cNvSpPr txBox="1"/>
          <p:nvPr/>
        </p:nvSpPr>
        <p:spPr>
          <a:xfrm>
            <a:off x="841248" y="4206240"/>
            <a:ext cx="4261104" cy="1280160"/>
          </a:xfrm>
          <a:prstGeom prst="rect">
            <a:avLst/>
          </a:prstGeom>
          <a:noFill/>
          <a:ln/>
        </p:spPr>
        <p:txBody>
          <a:bodyPr wrap="square" lIns="0" tIns="0" rIns="0" bIns="0" rtlCol="0" anchor="t"/>
          <a:lstStyle/>
          <a:p>
            <a:pPr marL="0" indent="0">
              <a:lnSpc>
                <a:spcPct val="122000"/>
              </a:lnSpc>
              <a:buNone/>
            </a:pPr>
            <a:r>
              <a:rPr lang="en-US" sz="1250" dirty="0">
                <a:solidFill>
                  <a:srgbClr val="F8FAFC"/>
                </a:solidFill>
                <a:latin typeface="Arial" pitchFamily="34" charset="0"/>
                <a:ea typeface="Arial" pitchFamily="34" charset="-122"/>
                <a:cs typeface="Arial" pitchFamily="34" charset="-120"/>
              </a:rPr>
              <a:t>Sections 2–8 of the notebook illustrate fold 1 and compare parameters on validation. Section 9 repeats the whole procedure inside each fold, refitting the mean and the eigenfaces on that fold's training images.</a:t>
            </a:r>
            <a:endParaRPr lang="en-US" sz="1250" dirty="0"/>
          </a:p>
        </p:txBody>
      </p:sp>
      <p:sp>
        <p:nvSpPr>
          <p:cNvPr id="11" name="Shape 8"/>
          <p:cNvSpPr/>
          <p:nvPr/>
        </p:nvSpPr>
        <p:spPr>
          <a:xfrm>
            <a:off x="5715000" y="1417320"/>
            <a:ext cx="5928055" cy="2880360"/>
          </a:xfrm>
          <a:prstGeom prst="roundRect">
            <a:avLst>
              <a:gd name="adj" fmla="val 2857"/>
            </a:avLst>
          </a:prstGeom>
          <a:solidFill>
            <a:srgbClr val="141B2D"/>
          </a:solidFill>
          <a:ln w="9525">
            <a:solidFill>
              <a:srgbClr val="27324A"/>
            </a:solidFill>
            <a:prstDash val="solid"/>
          </a:ln>
        </p:spPr>
        <p:txBody>
          <a:bodyPr/>
          <a:lstStyle/>
          <a:p>
            <a:endParaRPr lang="en-US"/>
          </a:p>
        </p:txBody>
      </p:sp>
      <p:sp>
        <p:nvSpPr>
          <p:cNvPr id="12" name="Text 9"/>
          <p:cNvSpPr txBox="1"/>
          <p:nvPr/>
        </p:nvSpPr>
        <p:spPr>
          <a:xfrm>
            <a:off x="5989320" y="1627632"/>
            <a:ext cx="5379415"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FOLD LAYOUT — ROWS ARE ROUNDS, COLUMNS ARE IMAGE PAIRS</a:t>
            </a:r>
            <a:endParaRPr lang="en-US" sz="1100" dirty="0"/>
          </a:p>
        </p:txBody>
      </p:sp>
      <p:sp>
        <p:nvSpPr>
          <p:cNvPr id="13" name="Text 10"/>
          <p:cNvSpPr txBox="1"/>
          <p:nvPr/>
        </p:nvSpPr>
        <p:spPr>
          <a:xfrm>
            <a:off x="5989320" y="1938528"/>
            <a:ext cx="457200" cy="34747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R1</a:t>
            </a:r>
            <a:endParaRPr lang="en-US" sz="1000" dirty="0"/>
          </a:p>
        </p:txBody>
      </p:sp>
      <p:sp>
        <p:nvSpPr>
          <p:cNvPr id="14" name="Shape 11"/>
          <p:cNvSpPr/>
          <p:nvPr/>
        </p:nvSpPr>
        <p:spPr>
          <a:xfrm>
            <a:off x="6309360" y="1938528"/>
            <a:ext cx="907633" cy="347472"/>
          </a:xfrm>
          <a:prstGeom prst="roundRect">
            <a:avLst>
              <a:gd name="adj" fmla="val 13158"/>
            </a:avLst>
          </a:prstGeom>
          <a:solidFill>
            <a:srgbClr val="22D3EE"/>
          </a:solidFill>
          <a:ln w="6350">
            <a:solidFill>
              <a:srgbClr val="27324A"/>
            </a:solidFill>
            <a:prstDash val="solid"/>
          </a:ln>
        </p:spPr>
        <p:txBody>
          <a:bodyPr/>
          <a:lstStyle/>
          <a:p>
            <a:endParaRPr lang="en-US"/>
          </a:p>
        </p:txBody>
      </p:sp>
      <p:sp>
        <p:nvSpPr>
          <p:cNvPr id="15" name="Text 12"/>
          <p:cNvSpPr txBox="1"/>
          <p:nvPr/>
        </p:nvSpPr>
        <p:spPr>
          <a:xfrm>
            <a:off x="6309360" y="1938528"/>
            <a:ext cx="907633" cy="347472"/>
          </a:xfrm>
          <a:prstGeom prst="rect">
            <a:avLst/>
          </a:prstGeom>
          <a:noFill/>
          <a:ln/>
        </p:spPr>
        <p:txBody>
          <a:bodyPr wrap="square" lIns="0" tIns="0" rIns="0" bIns="0" rtlCol="0" anchor="ctr"/>
          <a:lstStyle/>
          <a:p>
            <a:pPr marL="0" indent="0" algn="ctr">
              <a:buNone/>
            </a:pPr>
            <a:r>
              <a:rPr lang="en-US" sz="850" b="1" dirty="0">
                <a:solidFill>
                  <a:srgbClr val="0B0F19"/>
                </a:solidFill>
                <a:latin typeface="Arial" pitchFamily="34" charset="0"/>
                <a:ea typeface="Arial" pitchFamily="34" charset="-122"/>
                <a:cs typeface="Arial" pitchFamily="34" charset="-120"/>
              </a:rPr>
              <a:t>test</a:t>
            </a:r>
            <a:endParaRPr lang="en-US" sz="850" dirty="0"/>
          </a:p>
        </p:txBody>
      </p:sp>
      <p:sp>
        <p:nvSpPr>
          <p:cNvPr id="16" name="Shape 13"/>
          <p:cNvSpPr/>
          <p:nvPr/>
        </p:nvSpPr>
        <p:spPr>
          <a:xfrm>
            <a:off x="7271857" y="1938528"/>
            <a:ext cx="907633" cy="347472"/>
          </a:xfrm>
          <a:prstGeom prst="roundRect">
            <a:avLst>
              <a:gd name="adj" fmla="val 13158"/>
            </a:avLst>
          </a:prstGeom>
          <a:solidFill>
            <a:srgbClr val="8B5CF6"/>
          </a:solidFill>
          <a:ln w="6350">
            <a:solidFill>
              <a:srgbClr val="27324A"/>
            </a:solidFill>
            <a:prstDash val="solid"/>
          </a:ln>
        </p:spPr>
        <p:txBody>
          <a:bodyPr/>
          <a:lstStyle/>
          <a:p>
            <a:endParaRPr lang="en-US"/>
          </a:p>
        </p:txBody>
      </p:sp>
      <p:sp>
        <p:nvSpPr>
          <p:cNvPr id="17" name="Text 14"/>
          <p:cNvSpPr txBox="1"/>
          <p:nvPr/>
        </p:nvSpPr>
        <p:spPr>
          <a:xfrm>
            <a:off x="7271857" y="1938528"/>
            <a:ext cx="907633" cy="347472"/>
          </a:xfrm>
          <a:prstGeom prst="rect">
            <a:avLst/>
          </a:prstGeom>
          <a:noFill/>
          <a:ln/>
        </p:spPr>
        <p:txBody>
          <a:bodyPr wrap="square" lIns="0" tIns="0" rIns="0" bIns="0" rtlCol="0" anchor="ctr"/>
          <a:lstStyle/>
          <a:p>
            <a:pPr marL="0" indent="0" algn="ctr">
              <a:buNone/>
            </a:pPr>
            <a:r>
              <a:rPr lang="en-US" sz="850" b="1" dirty="0">
                <a:solidFill>
                  <a:srgbClr val="F3EEFF"/>
                </a:solidFill>
                <a:latin typeface="Arial" pitchFamily="34" charset="0"/>
                <a:ea typeface="Arial" pitchFamily="34" charset="-122"/>
                <a:cs typeface="Arial" pitchFamily="34" charset="-120"/>
              </a:rPr>
              <a:t>val + train</a:t>
            </a:r>
            <a:endParaRPr lang="en-US" sz="850" dirty="0"/>
          </a:p>
        </p:txBody>
      </p:sp>
      <p:sp>
        <p:nvSpPr>
          <p:cNvPr id="18" name="Shape 15"/>
          <p:cNvSpPr/>
          <p:nvPr/>
        </p:nvSpPr>
        <p:spPr>
          <a:xfrm>
            <a:off x="8234355" y="1938528"/>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19" name="Text 16"/>
          <p:cNvSpPr txBox="1"/>
          <p:nvPr/>
        </p:nvSpPr>
        <p:spPr>
          <a:xfrm>
            <a:off x="8234355" y="1938528"/>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20" name="Shape 17"/>
          <p:cNvSpPr/>
          <p:nvPr/>
        </p:nvSpPr>
        <p:spPr>
          <a:xfrm>
            <a:off x="9196852" y="1938528"/>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21" name="Text 18"/>
          <p:cNvSpPr txBox="1"/>
          <p:nvPr/>
        </p:nvSpPr>
        <p:spPr>
          <a:xfrm>
            <a:off x="9196852" y="1938528"/>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22" name="Shape 19"/>
          <p:cNvSpPr/>
          <p:nvPr/>
        </p:nvSpPr>
        <p:spPr>
          <a:xfrm>
            <a:off x="10159350" y="1938528"/>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23" name="Text 20"/>
          <p:cNvSpPr txBox="1"/>
          <p:nvPr/>
        </p:nvSpPr>
        <p:spPr>
          <a:xfrm>
            <a:off x="10159350" y="1938528"/>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24" name="Text 21"/>
          <p:cNvSpPr txBox="1"/>
          <p:nvPr/>
        </p:nvSpPr>
        <p:spPr>
          <a:xfrm>
            <a:off x="5989320" y="2377440"/>
            <a:ext cx="457200" cy="34747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R2</a:t>
            </a:r>
            <a:endParaRPr lang="en-US" sz="1000" dirty="0"/>
          </a:p>
        </p:txBody>
      </p:sp>
      <p:sp>
        <p:nvSpPr>
          <p:cNvPr id="25" name="Shape 22"/>
          <p:cNvSpPr/>
          <p:nvPr/>
        </p:nvSpPr>
        <p:spPr>
          <a:xfrm>
            <a:off x="6309360" y="2377440"/>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26" name="Text 23"/>
          <p:cNvSpPr txBox="1"/>
          <p:nvPr/>
        </p:nvSpPr>
        <p:spPr>
          <a:xfrm>
            <a:off x="6309360" y="2377440"/>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27" name="Shape 24"/>
          <p:cNvSpPr/>
          <p:nvPr/>
        </p:nvSpPr>
        <p:spPr>
          <a:xfrm>
            <a:off x="7271857" y="2377440"/>
            <a:ext cx="907633" cy="347472"/>
          </a:xfrm>
          <a:prstGeom prst="roundRect">
            <a:avLst>
              <a:gd name="adj" fmla="val 13158"/>
            </a:avLst>
          </a:prstGeom>
          <a:solidFill>
            <a:srgbClr val="22D3EE"/>
          </a:solidFill>
          <a:ln w="6350">
            <a:solidFill>
              <a:srgbClr val="27324A"/>
            </a:solidFill>
            <a:prstDash val="solid"/>
          </a:ln>
        </p:spPr>
        <p:txBody>
          <a:bodyPr/>
          <a:lstStyle/>
          <a:p>
            <a:endParaRPr lang="en-US"/>
          </a:p>
        </p:txBody>
      </p:sp>
      <p:sp>
        <p:nvSpPr>
          <p:cNvPr id="28" name="Text 25"/>
          <p:cNvSpPr txBox="1"/>
          <p:nvPr/>
        </p:nvSpPr>
        <p:spPr>
          <a:xfrm>
            <a:off x="7271857" y="2377440"/>
            <a:ext cx="907633" cy="347472"/>
          </a:xfrm>
          <a:prstGeom prst="rect">
            <a:avLst/>
          </a:prstGeom>
          <a:noFill/>
          <a:ln/>
        </p:spPr>
        <p:txBody>
          <a:bodyPr wrap="square" lIns="0" tIns="0" rIns="0" bIns="0" rtlCol="0" anchor="ctr"/>
          <a:lstStyle/>
          <a:p>
            <a:pPr marL="0" indent="0" algn="ctr">
              <a:buNone/>
            </a:pPr>
            <a:r>
              <a:rPr lang="en-US" sz="850" b="1" dirty="0">
                <a:solidFill>
                  <a:srgbClr val="0B0F19"/>
                </a:solidFill>
                <a:latin typeface="Arial" pitchFamily="34" charset="0"/>
                <a:ea typeface="Arial" pitchFamily="34" charset="-122"/>
                <a:cs typeface="Arial" pitchFamily="34" charset="-120"/>
              </a:rPr>
              <a:t>test</a:t>
            </a:r>
            <a:endParaRPr lang="en-US" sz="850" dirty="0"/>
          </a:p>
        </p:txBody>
      </p:sp>
      <p:sp>
        <p:nvSpPr>
          <p:cNvPr id="29" name="Shape 26"/>
          <p:cNvSpPr/>
          <p:nvPr/>
        </p:nvSpPr>
        <p:spPr>
          <a:xfrm>
            <a:off x="8234355" y="2377440"/>
            <a:ext cx="907633" cy="347472"/>
          </a:xfrm>
          <a:prstGeom prst="roundRect">
            <a:avLst>
              <a:gd name="adj" fmla="val 13158"/>
            </a:avLst>
          </a:prstGeom>
          <a:solidFill>
            <a:srgbClr val="8B5CF6"/>
          </a:solidFill>
          <a:ln w="6350">
            <a:solidFill>
              <a:srgbClr val="27324A"/>
            </a:solidFill>
            <a:prstDash val="solid"/>
          </a:ln>
        </p:spPr>
        <p:txBody>
          <a:bodyPr/>
          <a:lstStyle/>
          <a:p>
            <a:endParaRPr lang="en-US"/>
          </a:p>
        </p:txBody>
      </p:sp>
      <p:sp>
        <p:nvSpPr>
          <p:cNvPr id="30" name="Text 27"/>
          <p:cNvSpPr txBox="1"/>
          <p:nvPr/>
        </p:nvSpPr>
        <p:spPr>
          <a:xfrm>
            <a:off x="8234355" y="2377440"/>
            <a:ext cx="907633" cy="347472"/>
          </a:xfrm>
          <a:prstGeom prst="rect">
            <a:avLst/>
          </a:prstGeom>
          <a:noFill/>
          <a:ln/>
        </p:spPr>
        <p:txBody>
          <a:bodyPr wrap="square" lIns="0" tIns="0" rIns="0" bIns="0" rtlCol="0" anchor="ctr"/>
          <a:lstStyle/>
          <a:p>
            <a:pPr marL="0" indent="0" algn="ctr">
              <a:buNone/>
            </a:pPr>
            <a:r>
              <a:rPr lang="en-US" sz="850" b="1" dirty="0">
                <a:solidFill>
                  <a:srgbClr val="F3EEFF"/>
                </a:solidFill>
                <a:latin typeface="Arial" pitchFamily="34" charset="0"/>
                <a:ea typeface="Arial" pitchFamily="34" charset="-122"/>
                <a:cs typeface="Arial" pitchFamily="34" charset="-120"/>
              </a:rPr>
              <a:t>val + train</a:t>
            </a:r>
            <a:endParaRPr lang="en-US" sz="850" dirty="0"/>
          </a:p>
        </p:txBody>
      </p:sp>
      <p:sp>
        <p:nvSpPr>
          <p:cNvPr id="31" name="Shape 28"/>
          <p:cNvSpPr/>
          <p:nvPr/>
        </p:nvSpPr>
        <p:spPr>
          <a:xfrm>
            <a:off x="9196852" y="2377440"/>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32" name="Text 29"/>
          <p:cNvSpPr txBox="1"/>
          <p:nvPr/>
        </p:nvSpPr>
        <p:spPr>
          <a:xfrm>
            <a:off x="9196852" y="2377440"/>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33" name="Shape 30"/>
          <p:cNvSpPr/>
          <p:nvPr/>
        </p:nvSpPr>
        <p:spPr>
          <a:xfrm>
            <a:off x="10159350" y="2377440"/>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34" name="Text 31"/>
          <p:cNvSpPr txBox="1"/>
          <p:nvPr/>
        </p:nvSpPr>
        <p:spPr>
          <a:xfrm>
            <a:off x="10159350" y="2377440"/>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35" name="Text 32"/>
          <p:cNvSpPr txBox="1"/>
          <p:nvPr/>
        </p:nvSpPr>
        <p:spPr>
          <a:xfrm>
            <a:off x="5989320" y="2816352"/>
            <a:ext cx="457200" cy="34747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R3</a:t>
            </a:r>
            <a:endParaRPr lang="en-US" sz="1000" dirty="0"/>
          </a:p>
        </p:txBody>
      </p:sp>
      <p:sp>
        <p:nvSpPr>
          <p:cNvPr id="36" name="Shape 33"/>
          <p:cNvSpPr/>
          <p:nvPr/>
        </p:nvSpPr>
        <p:spPr>
          <a:xfrm>
            <a:off x="6309360" y="2816352"/>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37" name="Text 34"/>
          <p:cNvSpPr txBox="1"/>
          <p:nvPr/>
        </p:nvSpPr>
        <p:spPr>
          <a:xfrm>
            <a:off x="6309360" y="2816352"/>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38" name="Shape 35"/>
          <p:cNvSpPr/>
          <p:nvPr/>
        </p:nvSpPr>
        <p:spPr>
          <a:xfrm>
            <a:off x="7271857" y="2816352"/>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39" name="Text 36"/>
          <p:cNvSpPr txBox="1"/>
          <p:nvPr/>
        </p:nvSpPr>
        <p:spPr>
          <a:xfrm>
            <a:off x="7271857" y="2816352"/>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40" name="Shape 37"/>
          <p:cNvSpPr/>
          <p:nvPr/>
        </p:nvSpPr>
        <p:spPr>
          <a:xfrm>
            <a:off x="8234355" y="2816352"/>
            <a:ext cx="907633" cy="347472"/>
          </a:xfrm>
          <a:prstGeom prst="roundRect">
            <a:avLst>
              <a:gd name="adj" fmla="val 13158"/>
            </a:avLst>
          </a:prstGeom>
          <a:solidFill>
            <a:srgbClr val="22D3EE"/>
          </a:solidFill>
          <a:ln w="6350">
            <a:solidFill>
              <a:srgbClr val="27324A"/>
            </a:solidFill>
            <a:prstDash val="solid"/>
          </a:ln>
        </p:spPr>
        <p:txBody>
          <a:bodyPr/>
          <a:lstStyle/>
          <a:p>
            <a:endParaRPr lang="en-US"/>
          </a:p>
        </p:txBody>
      </p:sp>
      <p:sp>
        <p:nvSpPr>
          <p:cNvPr id="41" name="Text 38"/>
          <p:cNvSpPr txBox="1"/>
          <p:nvPr/>
        </p:nvSpPr>
        <p:spPr>
          <a:xfrm>
            <a:off x="8234355" y="2816352"/>
            <a:ext cx="907633" cy="347472"/>
          </a:xfrm>
          <a:prstGeom prst="rect">
            <a:avLst/>
          </a:prstGeom>
          <a:noFill/>
          <a:ln/>
        </p:spPr>
        <p:txBody>
          <a:bodyPr wrap="square" lIns="0" tIns="0" rIns="0" bIns="0" rtlCol="0" anchor="ctr"/>
          <a:lstStyle/>
          <a:p>
            <a:pPr marL="0" indent="0" algn="ctr">
              <a:buNone/>
            </a:pPr>
            <a:r>
              <a:rPr lang="en-US" sz="850" b="1" dirty="0">
                <a:solidFill>
                  <a:srgbClr val="0B0F19"/>
                </a:solidFill>
                <a:latin typeface="Arial" pitchFamily="34" charset="0"/>
                <a:ea typeface="Arial" pitchFamily="34" charset="-122"/>
                <a:cs typeface="Arial" pitchFamily="34" charset="-120"/>
              </a:rPr>
              <a:t>test</a:t>
            </a:r>
            <a:endParaRPr lang="en-US" sz="850" dirty="0"/>
          </a:p>
        </p:txBody>
      </p:sp>
      <p:sp>
        <p:nvSpPr>
          <p:cNvPr id="42" name="Shape 39"/>
          <p:cNvSpPr/>
          <p:nvPr/>
        </p:nvSpPr>
        <p:spPr>
          <a:xfrm>
            <a:off x="9196852" y="2816352"/>
            <a:ext cx="907633" cy="347472"/>
          </a:xfrm>
          <a:prstGeom prst="roundRect">
            <a:avLst>
              <a:gd name="adj" fmla="val 13158"/>
            </a:avLst>
          </a:prstGeom>
          <a:solidFill>
            <a:srgbClr val="8B5CF6"/>
          </a:solidFill>
          <a:ln w="6350">
            <a:solidFill>
              <a:srgbClr val="27324A"/>
            </a:solidFill>
            <a:prstDash val="solid"/>
          </a:ln>
        </p:spPr>
        <p:txBody>
          <a:bodyPr/>
          <a:lstStyle/>
          <a:p>
            <a:endParaRPr lang="en-US"/>
          </a:p>
        </p:txBody>
      </p:sp>
      <p:sp>
        <p:nvSpPr>
          <p:cNvPr id="43" name="Text 40"/>
          <p:cNvSpPr txBox="1"/>
          <p:nvPr/>
        </p:nvSpPr>
        <p:spPr>
          <a:xfrm>
            <a:off x="9196852" y="2816352"/>
            <a:ext cx="907633" cy="347472"/>
          </a:xfrm>
          <a:prstGeom prst="rect">
            <a:avLst/>
          </a:prstGeom>
          <a:noFill/>
          <a:ln/>
        </p:spPr>
        <p:txBody>
          <a:bodyPr wrap="square" lIns="0" tIns="0" rIns="0" bIns="0" rtlCol="0" anchor="ctr"/>
          <a:lstStyle/>
          <a:p>
            <a:pPr marL="0" indent="0" algn="ctr">
              <a:buNone/>
            </a:pPr>
            <a:r>
              <a:rPr lang="en-US" sz="850" b="1" dirty="0">
                <a:solidFill>
                  <a:srgbClr val="F3EEFF"/>
                </a:solidFill>
                <a:latin typeface="Arial" pitchFamily="34" charset="0"/>
                <a:ea typeface="Arial" pitchFamily="34" charset="-122"/>
                <a:cs typeface="Arial" pitchFamily="34" charset="-120"/>
              </a:rPr>
              <a:t>val + train</a:t>
            </a:r>
            <a:endParaRPr lang="en-US" sz="850" dirty="0"/>
          </a:p>
        </p:txBody>
      </p:sp>
      <p:sp>
        <p:nvSpPr>
          <p:cNvPr id="44" name="Shape 41"/>
          <p:cNvSpPr/>
          <p:nvPr/>
        </p:nvSpPr>
        <p:spPr>
          <a:xfrm>
            <a:off x="10159350" y="2816352"/>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45" name="Text 42"/>
          <p:cNvSpPr txBox="1"/>
          <p:nvPr/>
        </p:nvSpPr>
        <p:spPr>
          <a:xfrm>
            <a:off x="10159350" y="2816352"/>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46" name="Text 43"/>
          <p:cNvSpPr txBox="1"/>
          <p:nvPr/>
        </p:nvSpPr>
        <p:spPr>
          <a:xfrm>
            <a:off x="5989320" y="3255264"/>
            <a:ext cx="457200" cy="34747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R4</a:t>
            </a:r>
            <a:endParaRPr lang="en-US" sz="1000" dirty="0"/>
          </a:p>
        </p:txBody>
      </p:sp>
      <p:sp>
        <p:nvSpPr>
          <p:cNvPr id="47" name="Shape 44"/>
          <p:cNvSpPr/>
          <p:nvPr/>
        </p:nvSpPr>
        <p:spPr>
          <a:xfrm>
            <a:off x="6309360" y="3255264"/>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48" name="Text 45"/>
          <p:cNvSpPr txBox="1"/>
          <p:nvPr/>
        </p:nvSpPr>
        <p:spPr>
          <a:xfrm>
            <a:off x="6309360" y="3255264"/>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49" name="Shape 46"/>
          <p:cNvSpPr/>
          <p:nvPr/>
        </p:nvSpPr>
        <p:spPr>
          <a:xfrm>
            <a:off x="7271857" y="3255264"/>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50" name="Text 47"/>
          <p:cNvSpPr txBox="1"/>
          <p:nvPr/>
        </p:nvSpPr>
        <p:spPr>
          <a:xfrm>
            <a:off x="7271857" y="3255264"/>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51" name="Shape 48"/>
          <p:cNvSpPr/>
          <p:nvPr/>
        </p:nvSpPr>
        <p:spPr>
          <a:xfrm>
            <a:off x="8234355" y="3255264"/>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52" name="Text 49"/>
          <p:cNvSpPr txBox="1"/>
          <p:nvPr/>
        </p:nvSpPr>
        <p:spPr>
          <a:xfrm>
            <a:off x="8234355" y="3255264"/>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53" name="Shape 50"/>
          <p:cNvSpPr/>
          <p:nvPr/>
        </p:nvSpPr>
        <p:spPr>
          <a:xfrm>
            <a:off x="9196852" y="3255264"/>
            <a:ext cx="907633" cy="347472"/>
          </a:xfrm>
          <a:prstGeom prst="roundRect">
            <a:avLst>
              <a:gd name="adj" fmla="val 13158"/>
            </a:avLst>
          </a:prstGeom>
          <a:solidFill>
            <a:srgbClr val="22D3EE"/>
          </a:solidFill>
          <a:ln w="6350">
            <a:solidFill>
              <a:srgbClr val="27324A"/>
            </a:solidFill>
            <a:prstDash val="solid"/>
          </a:ln>
        </p:spPr>
        <p:txBody>
          <a:bodyPr/>
          <a:lstStyle/>
          <a:p>
            <a:endParaRPr lang="en-US"/>
          </a:p>
        </p:txBody>
      </p:sp>
      <p:sp>
        <p:nvSpPr>
          <p:cNvPr id="54" name="Text 51"/>
          <p:cNvSpPr txBox="1"/>
          <p:nvPr/>
        </p:nvSpPr>
        <p:spPr>
          <a:xfrm>
            <a:off x="9196852" y="3255264"/>
            <a:ext cx="907633" cy="347472"/>
          </a:xfrm>
          <a:prstGeom prst="rect">
            <a:avLst/>
          </a:prstGeom>
          <a:noFill/>
          <a:ln/>
        </p:spPr>
        <p:txBody>
          <a:bodyPr wrap="square" lIns="0" tIns="0" rIns="0" bIns="0" rtlCol="0" anchor="ctr"/>
          <a:lstStyle/>
          <a:p>
            <a:pPr marL="0" indent="0" algn="ctr">
              <a:buNone/>
            </a:pPr>
            <a:r>
              <a:rPr lang="en-US" sz="850" b="1" dirty="0">
                <a:solidFill>
                  <a:srgbClr val="0B0F19"/>
                </a:solidFill>
                <a:latin typeface="Arial" pitchFamily="34" charset="0"/>
                <a:ea typeface="Arial" pitchFamily="34" charset="-122"/>
                <a:cs typeface="Arial" pitchFamily="34" charset="-120"/>
              </a:rPr>
              <a:t>test</a:t>
            </a:r>
            <a:endParaRPr lang="en-US" sz="850" dirty="0"/>
          </a:p>
        </p:txBody>
      </p:sp>
      <p:sp>
        <p:nvSpPr>
          <p:cNvPr id="55" name="Shape 52"/>
          <p:cNvSpPr/>
          <p:nvPr/>
        </p:nvSpPr>
        <p:spPr>
          <a:xfrm>
            <a:off x="10159350" y="3255264"/>
            <a:ext cx="907633" cy="347472"/>
          </a:xfrm>
          <a:prstGeom prst="roundRect">
            <a:avLst>
              <a:gd name="adj" fmla="val 13158"/>
            </a:avLst>
          </a:prstGeom>
          <a:solidFill>
            <a:srgbClr val="8B5CF6"/>
          </a:solidFill>
          <a:ln w="6350">
            <a:solidFill>
              <a:srgbClr val="27324A"/>
            </a:solidFill>
            <a:prstDash val="solid"/>
          </a:ln>
        </p:spPr>
        <p:txBody>
          <a:bodyPr/>
          <a:lstStyle/>
          <a:p>
            <a:endParaRPr lang="en-US"/>
          </a:p>
        </p:txBody>
      </p:sp>
      <p:sp>
        <p:nvSpPr>
          <p:cNvPr id="56" name="Text 53"/>
          <p:cNvSpPr txBox="1"/>
          <p:nvPr/>
        </p:nvSpPr>
        <p:spPr>
          <a:xfrm>
            <a:off x="10159350" y="3255264"/>
            <a:ext cx="907633" cy="347472"/>
          </a:xfrm>
          <a:prstGeom prst="rect">
            <a:avLst/>
          </a:prstGeom>
          <a:noFill/>
          <a:ln/>
        </p:spPr>
        <p:txBody>
          <a:bodyPr wrap="square" lIns="0" tIns="0" rIns="0" bIns="0" rtlCol="0" anchor="ctr"/>
          <a:lstStyle/>
          <a:p>
            <a:pPr marL="0" indent="0" algn="ctr">
              <a:buNone/>
            </a:pPr>
            <a:r>
              <a:rPr lang="en-US" sz="850" b="1" dirty="0">
                <a:solidFill>
                  <a:srgbClr val="F3EEFF"/>
                </a:solidFill>
                <a:latin typeface="Arial" pitchFamily="34" charset="0"/>
                <a:ea typeface="Arial" pitchFamily="34" charset="-122"/>
                <a:cs typeface="Arial" pitchFamily="34" charset="-120"/>
              </a:rPr>
              <a:t>val + train</a:t>
            </a:r>
            <a:endParaRPr lang="en-US" sz="850" dirty="0"/>
          </a:p>
        </p:txBody>
      </p:sp>
      <p:sp>
        <p:nvSpPr>
          <p:cNvPr id="57" name="Text 54"/>
          <p:cNvSpPr txBox="1"/>
          <p:nvPr/>
        </p:nvSpPr>
        <p:spPr>
          <a:xfrm>
            <a:off x="5989320" y="3694176"/>
            <a:ext cx="457200" cy="347472"/>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R5</a:t>
            </a:r>
            <a:endParaRPr lang="en-US" sz="1000" dirty="0"/>
          </a:p>
        </p:txBody>
      </p:sp>
      <p:sp>
        <p:nvSpPr>
          <p:cNvPr id="58" name="Shape 55"/>
          <p:cNvSpPr/>
          <p:nvPr/>
        </p:nvSpPr>
        <p:spPr>
          <a:xfrm>
            <a:off x="6309360" y="3694176"/>
            <a:ext cx="907633" cy="347472"/>
          </a:xfrm>
          <a:prstGeom prst="roundRect">
            <a:avLst>
              <a:gd name="adj" fmla="val 13158"/>
            </a:avLst>
          </a:prstGeom>
          <a:solidFill>
            <a:srgbClr val="8B5CF6"/>
          </a:solidFill>
          <a:ln w="6350">
            <a:solidFill>
              <a:srgbClr val="27324A"/>
            </a:solidFill>
            <a:prstDash val="solid"/>
          </a:ln>
        </p:spPr>
        <p:txBody>
          <a:bodyPr/>
          <a:lstStyle/>
          <a:p>
            <a:endParaRPr lang="en-US"/>
          </a:p>
        </p:txBody>
      </p:sp>
      <p:sp>
        <p:nvSpPr>
          <p:cNvPr id="59" name="Text 56"/>
          <p:cNvSpPr txBox="1"/>
          <p:nvPr/>
        </p:nvSpPr>
        <p:spPr>
          <a:xfrm>
            <a:off x="6309360" y="3694176"/>
            <a:ext cx="907633" cy="347472"/>
          </a:xfrm>
          <a:prstGeom prst="rect">
            <a:avLst/>
          </a:prstGeom>
          <a:noFill/>
          <a:ln/>
        </p:spPr>
        <p:txBody>
          <a:bodyPr wrap="square" lIns="0" tIns="0" rIns="0" bIns="0" rtlCol="0" anchor="ctr"/>
          <a:lstStyle/>
          <a:p>
            <a:pPr marL="0" indent="0" algn="ctr">
              <a:buNone/>
            </a:pPr>
            <a:r>
              <a:rPr lang="en-US" sz="850" b="1" dirty="0">
                <a:solidFill>
                  <a:srgbClr val="F3EEFF"/>
                </a:solidFill>
                <a:latin typeface="Arial" pitchFamily="34" charset="0"/>
                <a:ea typeface="Arial" pitchFamily="34" charset="-122"/>
                <a:cs typeface="Arial" pitchFamily="34" charset="-120"/>
              </a:rPr>
              <a:t>val + train</a:t>
            </a:r>
            <a:endParaRPr lang="en-US" sz="850" dirty="0"/>
          </a:p>
        </p:txBody>
      </p:sp>
      <p:sp>
        <p:nvSpPr>
          <p:cNvPr id="60" name="Shape 57"/>
          <p:cNvSpPr/>
          <p:nvPr/>
        </p:nvSpPr>
        <p:spPr>
          <a:xfrm>
            <a:off x="7271857" y="3694176"/>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61" name="Text 58"/>
          <p:cNvSpPr txBox="1"/>
          <p:nvPr/>
        </p:nvSpPr>
        <p:spPr>
          <a:xfrm>
            <a:off x="7271857" y="3694176"/>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62" name="Shape 59"/>
          <p:cNvSpPr/>
          <p:nvPr/>
        </p:nvSpPr>
        <p:spPr>
          <a:xfrm>
            <a:off x="8234355" y="3694176"/>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63" name="Text 60"/>
          <p:cNvSpPr txBox="1"/>
          <p:nvPr/>
        </p:nvSpPr>
        <p:spPr>
          <a:xfrm>
            <a:off x="8234355" y="3694176"/>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64" name="Shape 61"/>
          <p:cNvSpPr/>
          <p:nvPr/>
        </p:nvSpPr>
        <p:spPr>
          <a:xfrm>
            <a:off x="9196852" y="3694176"/>
            <a:ext cx="907633" cy="347472"/>
          </a:xfrm>
          <a:prstGeom prst="roundRect">
            <a:avLst>
              <a:gd name="adj" fmla="val 13158"/>
            </a:avLst>
          </a:prstGeom>
          <a:solidFill>
            <a:srgbClr val="1B2438"/>
          </a:solidFill>
          <a:ln w="6350">
            <a:solidFill>
              <a:srgbClr val="27324A"/>
            </a:solidFill>
            <a:prstDash val="solid"/>
          </a:ln>
        </p:spPr>
        <p:txBody>
          <a:bodyPr/>
          <a:lstStyle/>
          <a:p>
            <a:endParaRPr lang="en-US"/>
          </a:p>
        </p:txBody>
      </p:sp>
      <p:sp>
        <p:nvSpPr>
          <p:cNvPr id="65" name="Text 62"/>
          <p:cNvSpPr txBox="1"/>
          <p:nvPr/>
        </p:nvSpPr>
        <p:spPr>
          <a:xfrm>
            <a:off x="9196852" y="3694176"/>
            <a:ext cx="907633" cy="347472"/>
          </a:xfrm>
          <a:prstGeom prst="rect">
            <a:avLst/>
          </a:prstGeom>
          <a:noFill/>
          <a:ln/>
        </p:spPr>
        <p:txBody>
          <a:bodyPr wrap="square" lIns="0" tIns="0" rIns="0" bIns="0" rtlCol="0" anchor="ctr"/>
          <a:lstStyle/>
          <a:p>
            <a:pPr marL="0" indent="0" algn="ctr">
              <a:buNone/>
            </a:pPr>
            <a:r>
              <a:rPr lang="en-US" sz="850" b="1" dirty="0">
                <a:solidFill>
                  <a:srgbClr val="94A3B8"/>
                </a:solidFill>
                <a:latin typeface="Arial" pitchFamily="34" charset="0"/>
                <a:ea typeface="Arial" pitchFamily="34" charset="-122"/>
                <a:cs typeface="Arial" pitchFamily="34" charset="-120"/>
              </a:rPr>
              <a:t>train</a:t>
            </a:r>
            <a:endParaRPr lang="en-US" sz="850" dirty="0"/>
          </a:p>
        </p:txBody>
      </p:sp>
      <p:sp>
        <p:nvSpPr>
          <p:cNvPr id="66" name="Shape 63"/>
          <p:cNvSpPr/>
          <p:nvPr/>
        </p:nvSpPr>
        <p:spPr>
          <a:xfrm>
            <a:off x="10159350" y="3694176"/>
            <a:ext cx="907633" cy="347472"/>
          </a:xfrm>
          <a:prstGeom prst="roundRect">
            <a:avLst>
              <a:gd name="adj" fmla="val 13158"/>
            </a:avLst>
          </a:prstGeom>
          <a:solidFill>
            <a:srgbClr val="22D3EE"/>
          </a:solidFill>
          <a:ln w="6350">
            <a:solidFill>
              <a:srgbClr val="27324A"/>
            </a:solidFill>
            <a:prstDash val="solid"/>
          </a:ln>
        </p:spPr>
        <p:txBody>
          <a:bodyPr/>
          <a:lstStyle/>
          <a:p>
            <a:endParaRPr lang="en-US"/>
          </a:p>
        </p:txBody>
      </p:sp>
      <p:sp>
        <p:nvSpPr>
          <p:cNvPr id="67" name="Text 64"/>
          <p:cNvSpPr txBox="1"/>
          <p:nvPr/>
        </p:nvSpPr>
        <p:spPr>
          <a:xfrm>
            <a:off x="10159350" y="3694176"/>
            <a:ext cx="907633" cy="347472"/>
          </a:xfrm>
          <a:prstGeom prst="rect">
            <a:avLst/>
          </a:prstGeom>
          <a:noFill/>
          <a:ln/>
        </p:spPr>
        <p:txBody>
          <a:bodyPr wrap="square" lIns="0" tIns="0" rIns="0" bIns="0" rtlCol="0" anchor="ctr"/>
          <a:lstStyle/>
          <a:p>
            <a:pPr marL="0" indent="0" algn="ctr">
              <a:buNone/>
            </a:pPr>
            <a:r>
              <a:rPr lang="en-US" sz="850" b="1" dirty="0">
                <a:solidFill>
                  <a:srgbClr val="0B0F19"/>
                </a:solidFill>
                <a:latin typeface="Arial" pitchFamily="34" charset="0"/>
                <a:ea typeface="Arial" pitchFamily="34" charset="-122"/>
                <a:cs typeface="Arial" pitchFamily="34" charset="-120"/>
              </a:rPr>
              <a:t>test</a:t>
            </a:r>
            <a:endParaRPr lang="en-US" sz="850" dirty="0"/>
          </a:p>
        </p:txBody>
      </p:sp>
      <p:sp>
        <p:nvSpPr>
          <p:cNvPr id="68" name="Shape 65"/>
          <p:cNvSpPr/>
          <p:nvPr/>
        </p:nvSpPr>
        <p:spPr>
          <a:xfrm>
            <a:off x="5715000" y="4526280"/>
            <a:ext cx="134485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69" name="Text 66"/>
          <p:cNvSpPr txBox="1"/>
          <p:nvPr/>
        </p:nvSpPr>
        <p:spPr>
          <a:xfrm>
            <a:off x="5715000" y="4608576"/>
            <a:ext cx="134485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train / round</a:t>
            </a:r>
            <a:endParaRPr lang="en-US" sz="950" dirty="0"/>
          </a:p>
        </p:txBody>
      </p:sp>
      <p:sp>
        <p:nvSpPr>
          <p:cNvPr id="70" name="Text 67"/>
          <p:cNvSpPr txBox="1"/>
          <p:nvPr/>
        </p:nvSpPr>
        <p:spPr>
          <a:xfrm>
            <a:off x="5715000" y="4809744"/>
            <a:ext cx="1344854" cy="384048"/>
          </a:xfrm>
          <a:prstGeom prst="rect">
            <a:avLst/>
          </a:prstGeom>
          <a:noFill/>
          <a:ln/>
        </p:spPr>
        <p:txBody>
          <a:bodyPr wrap="square" lIns="0" tIns="0" rIns="0" bIns="0" rtlCol="0" anchor="ctr"/>
          <a:lstStyle/>
          <a:p>
            <a:pPr marL="0" indent="0" algn="ctr">
              <a:buNone/>
            </a:pPr>
            <a:r>
              <a:rPr lang="en-US" sz="1600" b="1" dirty="0">
                <a:solidFill>
                  <a:srgbClr val="22D3EE"/>
                </a:solidFill>
                <a:latin typeface="Arial" pitchFamily="34" charset="0"/>
                <a:ea typeface="Arial" pitchFamily="34" charset="-122"/>
                <a:cs typeface="Arial" pitchFamily="34" charset="-120"/>
              </a:rPr>
              <a:t>280</a:t>
            </a:r>
            <a:endParaRPr lang="en-US" sz="1600" dirty="0"/>
          </a:p>
        </p:txBody>
      </p:sp>
      <p:sp>
        <p:nvSpPr>
          <p:cNvPr id="71" name="Shape 68"/>
          <p:cNvSpPr/>
          <p:nvPr/>
        </p:nvSpPr>
        <p:spPr>
          <a:xfrm>
            <a:off x="7242734" y="4526280"/>
            <a:ext cx="134485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72" name="Text 69"/>
          <p:cNvSpPr txBox="1"/>
          <p:nvPr/>
        </p:nvSpPr>
        <p:spPr>
          <a:xfrm>
            <a:off x="7242734" y="4608576"/>
            <a:ext cx="134485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validation</a:t>
            </a:r>
            <a:endParaRPr lang="en-US" sz="950" dirty="0"/>
          </a:p>
        </p:txBody>
      </p:sp>
      <p:sp>
        <p:nvSpPr>
          <p:cNvPr id="73" name="Text 70"/>
          <p:cNvSpPr txBox="1"/>
          <p:nvPr/>
        </p:nvSpPr>
        <p:spPr>
          <a:xfrm>
            <a:off x="7242734" y="4809744"/>
            <a:ext cx="1344854" cy="384048"/>
          </a:xfrm>
          <a:prstGeom prst="rect">
            <a:avLst/>
          </a:prstGeom>
          <a:noFill/>
          <a:ln/>
        </p:spPr>
        <p:txBody>
          <a:bodyPr wrap="square" lIns="0" tIns="0" rIns="0" bIns="0" rtlCol="0" anchor="ctr"/>
          <a:lstStyle/>
          <a:p>
            <a:pPr marL="0" indent="0" algn="ctr">
              <a:buNone/>
            </a:pPr>
            <a:r>
              <a:rPr lang="en-US" sz="1600" b="1" dirty="0">
                <a:solidFill>
                  <a:srgbClr val="8B5CF6"/>
                </a:solidFill>
                <a:latin typeface="Arial" pitchFamily="34" charset="0"/>
                <a:ea typeface="Arial" pitchFamily="34" charset="-122"/>
                <a:cs typeface="Arial" pitchFamily="34" charset="-120"/>
              </a:rPr>
              <a:t>40</a:t>
            </a:r>
            <a:endParaRPr lang="en-US" sz="1600" dirty="0"/>
          </a:p>
        </p:txBody>
      </p:sp>
      <p:sp>
        <p:nvSpPr>
          <p:cNvPr id="74" name="Shape 71"/>
          <p:cNvSpPr/>
          <p:nvPr/>
        </p:nvSpPr>
        <p:spPr>
          <a:xfrm>
            <a:off x="8770468" y="4526280"/>
            <a:ext cx="134485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75" name="Text 72"/>
          <p:cNvSpPr txBox="1"/>
          <p:nvPr/>
        </p:nvSpPr>
        <p:spPr>
          <a:xfrm>
            <a:off x="8770468" y="4608576"/>
            <a:ext cx="134485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test / round</a:t>
            </a:r>
            <a:endParaRPr lang="en-US" sz="950" dirty="0"/>
          </a:p>
        </p:txBody>
      </p:sp>
      <p:sp>
        <p:nvSpPr>
          <p:cNvPr id="76" name="Text 73"/>
          <p:cNvSpPr txBox="1"/>
          <p:nvPr/>
        </p:nvSpPr>
        <p:spPr>
          <a:xfrm>
            <a:off x="8770468" y="4809744"/>
            <a:ext cx="1344854" cy="384048"/>
          </a:xfrm>
          <a:prstGeom prst="rect">
            <a:avLst/>
          </a:prstGeom>
          <a:noFill/>
          <a:ln/>
        </p:spPr>
        <p:txBody>
          <a:bodyPr wrap="square" lIns="0" tIns="0" rIns="0" bIns="0" rtlCol="0" anchor="ctr"/>
          <a:lstStyle/>
          <a:p>
            <a:pPr marL="0" indent="0" algn="ctr">
              <a:buNone/>
            </a:pPr>
            <a:r>
              <a:rPr lang="en-US" sz="1600" b="1" dirty="0">
                <a:solidFill>
                  <a:srgbClr val="34D399"/>
                </a:solidFill>
                <a:latin typeface="Arial" pitchFamily="34" charset="0"/>
                <a:ea typeface="Arial" pitchFamily="34" charset="-122"/>
                <a:cs typeface="Arial" pitchFamily="34" charset="-120"/>
              </a:rPr>
              <a:t>80</a:t>
            </a:r>
            <a:endParaRPr lang="en-US" sz="1600" dirty="0"/>
          </a:p>
        </p:txBody>
      </p:sp>
      <p:sp>
        <p:nvSpPr>
          <p:cNvPr id="77" name="Shape 74"/>
          <p:cNvSpPr/>
          <p:nvPr/>
        </p:nvSpPr>
        <p:spPr>
          <a:xfrm>
            <a:off x="10298201" y="4526280"/>
            <a:ext cx="134485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78" name="Text 75"/>
          <p:cNvSpPr txBox="1"/>
          <p:nvPr/>
        </p:nvSpPr>
        <p:spPr>
          <a:xfrm>
            <a:off x="10298201" y="4608576"/>
            <a:ext cx="134485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shuffle seed</a:t>
            </a:r>
            <a:endParaRPr lang="en-US" sz="950" dirty="0"/>
          </a:p>
        </p:txBody>
      </p:sp>
      <p:sp>
        <p:nvSpPr>
          <p:cNvPr id="79" name="Text 76"/>
          <p:cNvSpPr txBox="1"/>
          <p:nvPr/>
        </p:nvSpPr>
        <p:spPr>
          <a:xfrm>
            <a:off x="10298201" y="4809744"/>
            <a:ext cx="1344854" cy="384048"/>
          </a:xfrm>
          <a:prstGeom prst="rect">
            <a:avLst/>
          </a:prstGeom>
          <a:noFill/>
          <a:ln/>
        </p:spPr>
        <p:txBody>
          <a:bodyPr wrap="square" lIns="0" tIns="0" rIns="0" bIns="0" rtlCol="0" anchor="ctr"/>
          <a:lstStyle/>
          <a:p>
            <a:pPr marL="0" indent="0" algn="ctr">
              <a:buNone/>
            </a:pPr>
            <a:r>
              <a:rPr lang="en-US" sz="1600" b="1" dirty="0">
                <a:solidFill>
                  <a:srgbClr val="F8FAFC"/>
                </a:solidFill>
                <a:latin typeface="Arial" pitchFamily="34" charset="0"/>
                <a:ea typeface="Arial" pitchFamily="34" charset="-122"/>
                <a:cs typeface="Arial" pitchFamily="34" charset="-120"/>
              </a:rPr>
              <a:t>42</a:t>
            </a:r>
            <a:endParaRPr lang="en-US" sz="1600" dirty="0"/>
          </a:p>
        </p:txBody>
      </p:sp>
      <p:sp>
        <p:nvSpPr>
          <p:cNvPr id="80" name="Text 77"/>
          <p:cNvSpPr txBox="1"/>
          <p:nvPr/>
        </p:nvSpPr>
        <p:spPr>
          <a:xfrm>
            <a:off x="5715000" y="5440680"/>
            <a:ext cx="5928055" cy="365760"/>
          </a:xfrm>
          <a:prstGeom prst="rect">
            <a:avLst/>
          </a:prstGeom>
          <a:noFill/>
          <a:ln/>
        </p:spPr>
        <p:txBody>
          <a:bodyPr wrap="square" lIns="0" tIns="0" rIns="0" bIns="0" rtlCol="0" anchor="ctr"/>
          <a:lstStyle/>
          <a:p>
            <a:pPr marL="0" indent="0">
              <a:lnSpc>
                <a:spcPct val="110000"/>
              </a:lnSpc>
              <a:buNone/>
            </a:pPr>
            <a:r>
              <a:rPr lang="en-US" sz="1050" dirty="0">
                <a:solidFill>
                  <a:srgbClr val="94A3B8"/>
                </a:solidFill>
                <a:latin typeface="Arial" pitchFamily="34" charset="0"/>
                <a:ea typeface="Arial" pitchFamily="34" charset="-122"/>
                <a:cs typeface="Arial" pitchFamily="34" charset="-120"/>
              </a:rPr>
              <a:t>Assertions in the code confirm the three index sets never intersect and that the five test sets together cover all 400 images exactly once.</a:t>
            </a:r>
            <a:endParaRPr lang="en-US" sz="1050" dirty="0"/>
          </a:p>
        </p:txBody>
      </p:sp>
      <p:sp>
        <p:nvSpPr>
          <p:cNvPr id="81" name="Text 78"/>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f = fold index, 0 … 4  ·  seed = fixed random-number seed controlling the shuffle (42)  ·  70 / 10 / 20 = share of each identity's images used for training, validation and test in one round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06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PHASE 1 · DATA PREPARATION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Dataset &amp; Mean Face</a:t>
            </a:r>
            <a:endParaRPr lang="en-US" sz="2800" dirty="0"/>
          </a:p>
        </p:txBody>
      </p:sp>
      <p:sp>
        <p:nvSpPr>
          <p:cNvPr id="7" name="Shape 4"/>
          <p:cNvSpPr/>
          <p:nvPr/>
        </p:nvSpPr>
        <p:spPr>
          <a:xfrm>
            <a:off x="548640" y="1417320"/>
            <a:ext cx="6720840" cy="3794760"/>
          </a:xfrm>
          <a:prstGeom prst="roundRect">
            <a:avLst>
              <a:gd name="adj" fmla="val 2169"/>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41248" y="1627632"/>
            <a:ext cx="2377440" cy="27432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Total images</a:t>
            </a:r>
            <a:endParaRPr lang="en-US" sz="1150" dirty="0"/>
          </a:p>
        </p:txBody>
      </p:sp>
      <p:sp>
        <p:nvSpPr>
          <p:cNvPr id="9" name="Text 6"/>
          <p:cNvSpPr txBox="1"/>
          <p:nvPr/>
        </p:nvSpPr>
        <p:spPr>
          <a:xfrm>
            <a:off x="3291840" y="1627632"/>
            <a:ext cx="3749040" cy="274320"/>
          </a:xfrm>
          <a:prstGeom prst="rect">
            <a:avLst/>
          </a:prstGeom>
          <a:noFill/>
          <a:ln/>
        </p:spPr>
        <p:txBody>
          <a:bodyPr wrap="square" lIns="0" tIns="0" rIns="0" bIns="0" rtlCol="0" anchor="ctr"/>
          <a:lstStyle/>
          <a:p>
            <a:pPr marL="0" indent="0">
              <a:buNone/>
            </a:pPr>
            <a:r>
              <a:rPr lang="en-US" sz="1150" dirty="0">
                <a:solidFill>
                  <a:srgbClr val="F8FAFC"/>
                </a:solidFill>
                <a:latin typeface="Arial" pitchFamily="34" charset="0"/>
                <a:ea typeface="Arial" pitchFamily="34" charset="-122"/>
                <a:cs typeface="Arial" pitchFamily="34" charset="-120"/>
              </a:rPr>
              <a:t>400 grayscale, 64 × 64</a:t>
            </a:r>
            <a:endParaRPr lang="en-US" sz="1150" dirty="0"/>
          </a:p>
        </p:txBody>
      </p:sp>
      <p:sp>
        <p:nvSpPr>
          <p:cNvPr id="10" name="Shape 7"/>
          <p:cNvSpPr/>
          <p:nvPr/>
        </p:nvSpPr>
        <p:spPr>
          <a:xfrm>
            <a:off x="841248" y="2029968"/>
            <a:ext cx="6126480" cy="0"/>
          </a:xfrm>
          <a:prstGeom prst="line">
            <a:avLst/>
          </a:prstGeom>
          <a:noFill/>
          <a:ln w="6350">
            <a:solidFill>
              <a:srgbClr val="27324A"/>
            </a:solidFill>
            <a:prstDash val="solid"/>
          </a:ln>
        </p:spPr>
        <p:txBody>
          <a:bodyPr/>
          <a:lstStyle/>
          <a:p>
            <a:endParaRPr lang="en-US"/>
          </a:p>
        </p:txBody>
      </p:sp>
      <p:sp>
        <p:nvSpPr>
          <p:cNvPr id="11" name="Text 8"/>
          <p:cNvSpPr txBox="1"/>
          <p:nvPr/>
        </p:nvSpPr>
        <p:spPr>
          <a:xfrm>
            <a:off x="841248" y="2203704"/>
            <a:ext cx="2377440" cy="27432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Identities</a:t>
            </a:r>
            <a:endParaRPr lang="en-US" sz="1150" dirty="0"/>
          </a:p>
        </p:txBody>
      </p:sp>
      <p:sp>
        <p:nvSpPr>
          <p:cNvPr id="12" name="Text 9"/>
          <p:cNvSpPr txBox="1"/>
          <p:nvPr/>
        </p:nvSpPr>
        <p:spPr>
          <a:xfrm>
            <a:off x="3291840" y="2203704"/>
            <a:ext cx="3749040" cy="274320"/>
          </a:xfrm>
          <a:prstGeom prst="rect">
            <a:avLst/>
          </a:prstGeom>
          <a:noFill/>
          <a:ln/>
        </p:spPr>
        <p:txBody>
          <a:bodyPr wrap="square" lIns="0" tIns="0" rIns="0" bIns="0" rtlCol="0" anchor="ctr"/>
          <a:lstStyle/>
          <a:p>
            <a:pPr marL="0" indent="0">
              <a:buNone/>
            </a:pPr>
            <a:r>
              <a:rPr lang="en-US" sz="1150" dirty="0">
                <a:solidFill>
                  <a:srgbClr val="F8FAFC"/>
                </a:solidFill>
                <a:latin typeface="Arial" pitchFamily="34" charset="0"/>
                <a:ea typeface="Arial" pitchFamily="34" charset="-122"/>
                <a:cs typeface="Arial" pitchFamily="34" charset="-120"/>
              </a:rPr>
              <a:t>40 people, 10 images each</a:t>
            </a:r>
            <a:endParaRPr lang="en-US" sz="1150" dirty="0"/>
          </a:p>
        </p:txBody>
      </p:sp>
      <p:sp>
        <p:nvSpPr>
          <p:cNvPr id="13" name="Shape 10"/>
          <p:cNvSpPr/>
          <p:nvPr/>
        </p:nvSpPr>
        <p:spPr>
          <a:xfrm>
            <a:off x="841248" y="2606040"/>
            <a:ext cx="6126480" cy="0"/>
          </a:xfrm>
          <a:prstGeom prst="line">
            <a:avLst/>
          </a:prstGeom>
          <a:noFill/>
          <a:ln w="6350">
            <a:solidFill>
              <a:srgbClr val="27324A"/>
            </a:solidFill>
            <a:prstDash val="solid"/>
          </a:ln>
        </p:spPr>
        <p:txBody>
          <a:bodyPr/>
          <a:lstStyle/>
          <a:p>
            <a:endParaRPr lang="en-US"/>
          </a:p>
        </p:txBody>
      </p:sp>
      <p:sp>
        <p:nvSpPr>
          <p:cNvPr id="14" name="Text 11"/>
          <p:cNvSpPr txBox="1"/>
          <p:nvPr/>
        </p:nvSpPr>
        <p:spPr>
          <a:xfrm>
            <a:off x="841248" y="2779776"/>
            <a:ext cx="2377440" cy="27432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Vector dimension</a:t>
            </a:r>
            <a:endParaRPr lang="en-US" sz="1150" dirty="0"/>
          </a:p>
        </p:txBody>
      </p:sp>
      <p:sp>
        <p:nvSpPr>
          <p:cNvPr id="15" name="Text 12"/>
          <p:cNvSpPr txBox="1"/>
          <p:nvPr/>
        </p:nvSpPr>
        <p:spPr>
          <a:xfrm>
            <a:off x="3291840" y="2779776"/>
            <a:ext cx="3749040" cy="274320"/>
          </a:xfrm>
          <a:prstGeom prst="rect">
            <a:avLst/>
          </a:prstGeom>
          <a:noFill/>
          <a:ln/>
        </p:spPr>
        <p:txBody>
          <a:bodyPr wrap="square" lIns="0" tIns="0" rIns="0" bIns="0" rtlCol="0" anchor="ctr"/>
          <a:lstStyle/>
          <a:p>
            <a:pPr marL="0" indent="0">
              <a:buNone/>
            </a:pPr>
            <a:r>
              <a:rPr lang="en-US" sz="1150" dirty="0">
                <a:solidFill>
                  <a:srgbClr val="F8FAFC"/>
                </a:solidFill>
                <a:latin typeface="Arial" pitchFamily="34" charset="0"/>
                <a:ea typeface="Arial" pitchFamily="34" charset="-122"/>
                <a:cs typeface="Arial" pitchFamily="34" charset="-120"/>
              </a:rPr>
              <a:t>4096 pixels per image</a:t>
            </a:r>
            <a:endParaRPr lang="en-US" sz="1150" dirty="0"/>
          </a:p>
        </p:txBody>
      </p:sp>
      <p:sp>
        <p:nvSpPr>
          <p:cNvPr id="16" name="Shape 13"/>
          <p:cNvSpPr/>
          <p:nvPr/>
        </p:nvSpPr>
        <p:spPr>
          <a:xfrm>
            <a:off x="841248" y="3182112"/>
            <a:ext cx="6126480" cy="0"/>
          </a:xfrm>
          <a:prstGeom prst="line">
            <a:avLst/>
          </a:prstGeom>
          <a:noFill/>
          <a:ln w="6350">
            <a:solidFill>
              <a:srgbClr val="27324A"/>
            </a:solidFill>
            <a:prstDash val="solid"/>
          </a:ln>
        </p:spPr>
        <p:txBody>
          <a:bodyPr/>
          <a:lstStyle/>
          <a:p>
            <a:endParaRPr lang="en-US"/>
          </a:p>
        </p:txBody>
      </p:sp>
      <p:sp>
        <p:nvSpPr>
          <p:cNvPr id="17" name="Text 14"/>
          <p:cNvSpPr txBox="1"/>
          <p:nvPr/>
        </p:nvSpPr>
        <p:spPr>
          <a:xfrm>
            <a:off x="841248" y="3355848"/>
            <a:ext cx="2377440" cy="27432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Split per round</a:t>
            </a:r>
            <a:endParaRPr lang="en-US" sz="1150" dirty="0"/>
          </a:p>
        </p:txBody>
      </p:sp>
      <p:sp>
        <p:nvSpPr>
          <p:cNvPr id="18" name="Text 15"/>
          <p:cNvSpPr txBox="1"/>
          <p:nvPr/>
        </p:nvSpPr>
        <p:spPr>
          <a:xfrm>
            <a:off x="3291840" y="3355848"/>
            <a:ext cx="3749040" cy="274320"/>
          </a:xfrm>
          <a:prstGeom prst="rect">
            <a:avLst/>
          </a:prstGeom>
          <a:noFill/>
          <a:ln/>
        </p:spPr>
        <p:txBody>
          <a:bodyPr wrap="square" lIns="0" tIns="0" rIns="0" bIns="0" rtlCol="0" anchor="ctr"/>
          <a:lstStyle/>
          <a:p>
            <a:pPr marL="0" indent="0">
              <a:buNone/>
            </a:pPr>
            <a:r>
              <a:rPr lang="en-US" sz="1150" dirty="0">
                <a:solidFill>
                  <a:srgbClr val="F8FAFC"/>
                </a:solidFill>
                <a:latin typeface="Arial" pitchFamily="34" charset="0"/>
                <a:ea typeface="Arial" pitchFamily="34" charset="-122"/>
                <a:cs typeface="Arial" pitchFamily="34" charset="-120"/>
              </a:rPr>
              <a:t>280 train / 40 validation / 80 test</a:t>
            </a:r>
            <a:endParaRPr lang="en-US" sz="1150" dirty="0"/>
          </a:p>
        </p:txBody>
      </p:sp>
      <p:sp>
        <p:nvSpPr>
          <p:cNvPr id="19" name="Shape 16"/>
          <p:cNvSpPr/>
          <p:nvPr/>
        </p:nvSpPr>
        <p:spPr>
          <a:xfrm>
            <a:off x="841248" y="3758184"/>
            <a:ext cx="6126480" cy="0"/>
          </a:xfrm>
          <a:prstGeom prst="line">
            <a:avLst/>
          </a:prstGeom>
          <a:noFill/>
          <a:ln w="6350">
            <a:solidFill>
              <a:srgbClr val="27324A"/>
            </a:solidFill>
            <a:prstDash val="solid"/>
          </a:ln>
        </p:spPr>
        <p:txBody>
          <a:bodyPr/>
          <a:lstStyle/>
          <a:p>
            <a:endParaRPr lang="en-US"/>
          </a:p>
        </p:txBody>
      </p:sp>
      <p:sp>
        <p:nvSpPr>
          <p:cNvPr id="20" name="Text 17"/>
          <p:cNvSpPr txBox="1"/>
          <p:nvPr/>
        </p:nvSpPr>
        <p:spPr>
          <a:xfrm>
            <a:off x="841248" y="3931920"/>
            <a:ext cx="2377440" cy="27432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Rounds</a:t>
            </a:r>
            <a:endParaRPr lang="en-US" sz="1150" dirty="0"/>
          </a:p>
        </p:txBody>
      </p:sp>
      <p:sp>
        <p:nvSpPr>
          <p:cNvPr id="21" name="Text 18"/>
          <p:cNvSpPr txBox="1"/>
          <p:nvPr/>
        </p:nvSpPr>
        <p:spPr>
          <a:xfrm>
            <a:off x="3291840" y="3931920"/>
            <a:ext cx="3749040" cy="274320"/>
          </a:xfrm>
          <a:prstGeom prst="rect">
            <a:avLst/>
          </a:prstGeom>
          <a:noFill/>
          <a:ln/>
        </p:spPr>
        <p:txBody>
          <a:bodyPr wrap="square" lIns="0" tIns="0" rIns="0" bIns="0" rtlCol="0" anchor="ctr"/>
          <a:lstStyle/>
          <a:p>
            <a:pPr marL="0" indent="0">
              <a:buNone/>
            </a:pPr>
            <a:r>
              <a:rPr lang="en-US" sz="1150" dirty="0">
                <a:solidFill>
                  <a:srgbClr val="F8FAFC"/>
                </a:solidFill>
                <a:latin typeface="Arial" pitchFamily="34" charset="0"/>
                <a:ea typeface="Arial" pitchFamily="34" charset="-122"/>
                <a:cs typeface="Arial" pitchFamily="34" charset="-120"/>
              </a:rPr>
              <a:t>5 rotating folds, every image tested once</a:t>
            </a:r>
            <a:endParaRPr lang="en-US" sz="1150" dirty="0"/>
          </a:p>
        </p:txBody>
      </p:sp>
      <p:sp>
        <p:nvSpPr>
          <p:cNvPr id="22" name="Shape 19"/>
          <p:cNvSpPr/>
          <p:nvPr/>
        </p:nvSpPr>
        <p:spPr>
          <a:xfrm>
            <a:off x="841248" y="4334256"/>
            <a:ext cx="6126480" cy="0"/>
          </a:xfrm>
          <a:prstGeom prst="line">
            <a:avLst/>
          </a:prstGeom>
          <a:noFill/>
          <a:ln w="6350">
            <a:solidFill>
              <a:srgbClr val="27324A"/>
            </a:solidFill>
            <a:prstDash val="solid"/>
          </a:ln>
        </p:spPr>
        <p:txBody>
          <a:bodyPr/>
          <a:lstStyle/>
          <a:p>
            <a:endParaRPr lang="en-US"/>
          </a:p>
        </p:txBody>
      </p:sp>
      <p:sp>
        <p:nvSpPr>
          <p:cNvPr id="23" name="Text 20"/>
          <p:cNvSpPr txBox="1"/>
          <p:nvPr/>
        </p:nvSpPr>
        <p:spPr>
          <a:xfrm>
            <a:off x="841248" y="4507992"/>
            <a:ext cx="2377440" cy="274320"/>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Mean face μ</a:t>
            </a:r>
            <a:endParaRPr lang="en-US" sz="1150" dirty="0"/>
          </a:p>
        </p:txBody>
      </p:sp>
      <p:sp>
        <p:nvSpPr>
          <p:cNvPr id="24" name="Text 21"/>
          <p:cNvSpPr txBox="1"/>
          <p:nvPr/>
        </p:nvSpPr>
        <p:spPr>
          <a:xfrm>
            <a:off x="3291840" y="4507992"/>
            <a:ext cx="3749040" cy="274320"/>
          </a:xfrm>
          <a:prstGeom prst="rect">
            <a:avLst/>
          </a:prstGeom>
          <a:noFill/>
          <a:ln/>
        </p:spPr>
        <p:txBody>
          <a:bodyPr wrap="square" lIns="0" tIns="0" rIns="0" bIns="0" rtlCol="0" anchor="ctr"/>
          <a:lstStyle/>
          <a:p>
            <a:pPr marL="0" indent="0">
              <a:buNone/>
            </a:pPr>
            <a:r>
              <a:rPr lang="en-US" sz="1150" dirty="0">
                <a:solidFill>
                  <a:srgbClr val="F8FAFC"/>
                </a:solidFill>
                <a:latin typeface="Arial" pitchFamily="34" charset="0"/>
                <a:ea typeface="Arial" pitchFamily="34" charset="-122"/>
                <a:cs typeface="Arial" pitchFamily="34" charset="-120"/>
              </a:rPr>
              <a:t>computed from the 280 training rows only</a:t>
            </a:r>
            <a:endParaRPr lang="en-US" sz="1150" dirty="0"/>
          </a:p>
        </p:txBody>
      </p:sp>
      <p:sp>
        <p:nvSpPr>
          <p:cNvPr id="25" name="Shape 22"/>
          <p:cNvSpPr/>
          <p:nvPr/>
        </p:nvSpPr>
        <p:spPr>
          <a:xfrm>
            <a:off x="548640" y="5349240"/>
            <a:ext cx="6720840" cy="566928"/>
          </a:xfrm>
          <a:prstGeom prst="roundRect">
            <a:avLst>
              <a:gd name="adj" fmla="val 14516"/>
            </a:avLst>
          </a:prstGeom>
          <a:solidFill>
            <a:srgbClr val="141B2D"/>
          </a:solidFill>
          <a:ln w="9525">
            <a:solidFill>
              <a:srgbClr val="27324A"/>
            </a:solidFill>
            <a:prstDash val="solid"/>
          </a:ln>
        </p:spPr>
        <p:txBody>
          <a:bodyPr/>
          <a:lstStyle/>
          <a:p>
            <a:endParaRPr lang="en-US"/>
          </a:p>
        </p:txBody>
      </p:sp>
      <p:sp>
        <p:nvSpPr>
          <p:cNvPr id="26" name="Text 23"/>
          <p:cNvSpPr txBox="1"/>
          <p:nvPr/>
        </p:nvSpPr>
        <p:spPr>
          <a:xfrm>
            <a:off x="841248" y="5349240"/>
            <a:ext cx="6400800" cy="566928"/>
          </a:xfrm>
          <a:prstGeom prst="rect">
            <a:avLst/>
          </a:prstGeom>
          <a:noFill/>
          <a:ln/>
        </p:spPr>
        <p:txBody>
          <a:bodyPr wrap="square" lIns="0" tIns="0" rIns="0" bIns="0" rtlCol="0" anchor="ctr"/>
          <a:lstStyle/>
          <a:p>
            <a:pPr marL="0" indent="0">
              <a:buNone/>
            </a:pPr>
            <a:r>
              <a:rPr lang="en-US" sz="1050" dirty="0">
                <a:solidFill>
                  <a:srgbClr val="34D399"/>
                </a:solidFill>
                <a:latin typeface="Courier New" pitchFamily="34" charset="0"/>
                <a:ea typeface="Courier New" pitchFamily="34" charset="-122"/>
                <a:cs typeface="Courier New" pitchFamily="34" charset="-120"/>
              </a:rPr>
              <a:t>Per-pixel variance:  0.01931817 before centring  →  0.01931817 after</a:t>
            </a:r>
            <a:endParaRPr lang="en-US" sz="1050" dirty="0"/>
          </a:p>
        </p:txBody>
      </p:sp>
      <p:sp>
        <p:nvSpPr>
          <p:cNvPr id="27" name="Shape 24"/>
          <p:cNvSpPr/>
          <p:nvPr/>
        </p:nvSpPr>
        <p:spPr>
          <a:xfrm>
            <a:off x="7589520" y="1417320"/>
            <a:ext cx="4053535" cy="3703320"/>
          </a:xfrm>
          <a:prstGeom prst="roundRect">
            <a:avLst>
              <a:gd name="adj" fmla="val 1728"/>
            </a:avLst>
          </a:prstGeom>
          <a:solidFill>
            <a:srgbClr val="FFFFFF"/>
          </a:solidFill>
          <a:ln w="6350">
            <a:solidFill>
              <a:srgbClr val="FFFFFF"/>
            </a:solidFill>
            <a:prstDash val="solid"/>
          </a:ln>
        </p:spPr>
        <p:txBody>
          <a:bodyPr/>
          <a:lstStyle/>
          <a:p>
            <a:endParaRPr lang="en-US"/>
          </a:p>
        </p:txBody>
      </p:sp>
      <p:pic>
        <p:nvPicPr>
          <p:cNvPr id="28" name="Image 0" descr="/home/claude/work/nb_images/cell08_0.png"/>
          <p:cNvPicPr>
            <a:picLocks noChangeAspect="1"/>
          </p:cNvPicPr>
          <p:nvPr/>
        </p:nvPicPr>
        <p:blipFill>
          <a:blip r:embed="rId3"/>
          <a:stretch>
            <a:fillRect/>
          </a:stretch>
        </p:blipFill>
        <p:spPr>
          <a:xfrm>
            <a:off x="8069541" y="1618488"/>
            <a:ext cx="3093494" cy="3300984"/>
          </a:xfrm>
          <a:prstGeom prst="rect">
            <a:avLst/>
          </a:prstGeom>
        </p:spPr>
      </p:pic>
      <p:sp>
        <p:nvSpPr>
          <p:cNvPr id="29" name="Text 25"/>
          <p:cNvSpPr txBox="1"/>
          <p:nvPr/>
        </p:nvSpPr>
        <p:spPr>
          <a:xfrm>
            <a:off x="7589520" y="5212080"/>
            <a:ext cx="4053535" cy="274320"/>
          </a:xfrm>
          <a:prstGeom prst="rect">
            <a:avLst/>
          </a:prstGeom>
          <a:noFill/>
          <a:ln/>
        </p:spPr>
        <p:txBody>
          <a:bodyPr wrap="square" lIns="0" tIns="0" rIns="0" bIns="0" rtlCol="0" anchor="ctr"/>
          <a:lstStyle/>
          <a:p>
            <a:pPr marL="0" indent="0" algn="ctr">
              <a:buNone/>
            </a:pPr>
            <a:r>
              <a:rPr lang="en-US" sz="1050" dirty="0">
                <a:solidFill>
                  <a:srgbClr val="94A3B8"/>
                </a:solidFill>
                <a:latin typeface="Arial" pitchFamily="34" charset="0"/>
                <a:ea typeface="Arial" pitchFamily="34" charset="-122"/>
                <a:cs typeface="Arial" pitchFamily="34" charset="-120"/>
              </a:rPr>
              <a:t>Mean face μ, reshaped to 64 × 64</a:t>
            </a:r>
            <a:endParaRPr lang="en-US" sz="1050" dirty="0"/>
          </a:p>
        </p:txBody>
      </p:sp>
      <p:sp>
        <p:nvSpPr>
          <p:cNvPr id="30" name="Text 26"/>
          <p:cNvSpPr txBox="1"/>
          <p:nvPr/>
        </p:nvSpPr>
        <p:spPr>
          <a:xfrm>
            <a:off x="7589520" y="5468112"/>
            <a:ext cx="4053535" cy="457200"/>
          </a:xfrm>
          <a:prstGeom prst="rect">
            <a:avLst/>
          </a:prstGeom>
          <a:noFill/>
          <a:ln/>
        </p:spPr>
        <p:txBody>
          <a:bodyPr wrap="square" lIns="0" tIns="0" rIns="0" bIns="0" rtlCol="0" anchor="ctr"/>
          <a:lstStyle/>
          <a:p>
            <a:pPr marL="0" indent="0" algn="ctr">
              <a:lnSpc>
                <a:spcPct val="110000"/>
              </a:lnSpc>
              <a:buNone/>
            </a:pPr>
            <a:r>
              <a:rPr lang="en-US" sz="1000" dirty="0">
                <a:solidFill>
                  <a:srgbClr val="94A3B8"/>
                </a:solidFill>
                <a:latin typeface="Arial" pitchFamily="34" charset="0"/>
                <a:ea typeface="Arial" pitchFamily="34" charset="-122"/>
                <a:cs typeface="Arial" pitchFamily="34" charset="-120"/>
              </a:rPr>
              <a:t>Detail is blurred because expression, lighting and pose vary across the training set.</a:t>
            </a:r>
            <a:endParaRPr lang="en-US" sz="1000" dirty="0"/>
          </a:p>
        </p:txBody>
      </p:sp>
      <p:sp>
        <p:nvSpPr>
          <p:cNvPr id="31" name="Text 27"/>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μ = training mean face, a 4096-vector  ·  X_c = X − μ, the mean-centred training matrix  ·  N = 280 training images in this fold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07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PHASE 3 · EVALUATION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Reconstruction Error — Mean Squared Error vs k</a:t>
            </a:r>
            <a:endParaRPr lang="en-US" sz="2800" dirty="0"/>
          </a:p>
        </p:txBody>
      </p:sp>
      <p:sp>
        <p:nvSpPr>
          <p:cNvPr id="7" name="Shape 4"/>
          <p:cNvSpPr/>
          <p:nvPr/>
        </p:nvSpPr>
        <p:spPr>
          <a:xfrm>
            <a:off x="548640" y="1417320"/>
            <a:ext cx="5029200"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27632"/>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METRIC</a:t>
            </a:r>
            <a:endParaRPr lang="en-US" sz="1100" dirty="0"/>
          </a:p>
        </p:txBody>
      </p:sp>
      <p:sp>
        <p:nvSpPr>
          <p:cNvPr id="9" name="Shape 6"/>
          <p:cNvSpPr/>
          <p:nvPr/>
        </p:nvSpPr>
        <p:spPr>
          <a:xfrm>
            <a:off x="822960" y="1920240"/>
            <a:ext cx="4480560" cy="566928"/>
          </a:xfrm>
          <a:prstGeom prst="roundRect">
            <a:avLst>
              <a:gd name="adj" fmla="val 9677"/>
            </a:avLst>
          </a:prstGeom>
          <a:solidFill>
            <a:srgbClr val="1B2438"/>
          </a:solidFill>
          <a:ln w="7620">
            <a:solidFill>
              <a:srgbClr val="27324A"/>
            </a:solidFill>
            <a:prstDash val="solid"/>
          </a:ln>
        </p:spPr>
        <p:txBody>
          <a:bodyPr/>
          <a:lstStyle/>
          <a:p>
            <a:endParaRPr lang="en-US"/>
          </a:p>
        </p:txBody>
      </p:sp>
      <p:sp>
        <p:nvSpPr>
          <p:cNvPr id="10" name="Text 7"/>
          <p:cNvSpPr txBox="1"/>
          <p:nvPr/>
        </p:nvSpPr>
        <p:spPr>
          <a:xfrm>
            <a:off x="822960" y="1920240"/>
            <a:ext cx="4480560" cy="566928"/>
          </a:xfrm>
          <a:prstGeom prst="rect">
            <a:avLst/>
          </a:prstGeom>
          <a:noFill/>
          <a:ln/>
        </p:spPr>
        <p:txBody>
          <a:bodyPr wrap="square" lIns="0" tIns="0" rIns="0" bIns="0" rtlCol="0" anchor="ctr"/>
          <a:lstStyle/>
          <a:p>
            <a:pPr marL="0" indent="0" algn="ctr">
              <a:buNone/>
            </a:pPr>
            <a:r>
              <a:rPr lang="en-US" sz="1300" dirty="0">
                <a:solidFill>
                  <a:srgbClr val="F8FAFC"/>
                </a:solidFill>
                <a:latin typeface="Courier New" pitchFamily="34" charset="0"/>
                <a:ea typeface="Courier New" pitchFamily="34" charset="-122"/>
                <a:cs typeface="Courier New" pitchFamily="34" charset="-120"/>
              </a:rPr>
              <a:t>MSE = (1 / n·d) Σᵢ Σⱼ (Xᵢⱼ − X̂ᵢⱼ)²</a:t>
            </a:r>
            <a:endParaRPr lang="en-US" sz="1300" dirty="0"/>
          </a:p>
        </p:txBody>
      </p:sp>
      <p:sp>
        <p:nvSpPr>
          <p:cNvPr id="11" name="Text 8"/>
          <p:cNvSpPr txBox="1"/>
          <p:nvPr/>
        </p:nvSpPr>
        <p:spPr>
          <a:xfrm>
            <a:off x="822960" y="2651760"/>
            <a:ext cx="4480560" cy="91440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MSE measures the pixel-by-pixel distance between an image and its reconstruction, unlike explained variance, which only reports how much of the signal energy the retained directions carry.</a:t>
            </a:r>
            <a:endParaRPr lang="en-US" sz="1200" dirty="0"/>
          </a:p>
        </p:txBody>
      </p:sp>
      <p:sp>
        <p:nvSpPr>
          <p:cNvPr id="12" name="Text 9"/>
          <p:cNvSpPr txBox="1"/>
          <p:nvPr/>
        </p:nvSpPr>
        <p:spPr>
          <a:xfrm>
            <a:off x="822960" y="3611880"/>
            <a:ext cx="4480560" cy="114300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Because the PCA basis is orthonormal, error can never increase as k grows — a useful correctness check on the implementation. These values are measured on the training images, so they describe how well the learned subspace represents the training set itself.</a:t>
            </a:r>
            <a:endParaRPr lang="en-US" sz="1200" dirty="0"/>
          </a:p>
        </p:txBody>
      </p:sp>
      <p:sp>
        <p:nvSpPr>
          <p:cNvPr id="13" name="Shape 10"/>
          <p:cNvSpPr/>
          <p:nvPr/>
        </p:nvSpPr>
        <p:spPr>
          <a:xfrm>
            <a:off x="822960" y="4846320"/>
            <a:ext cx="1383792"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4" name="Text 11"/>
          <p:cNvSpPr txBox="1"/>
          <p:nvPr/>
        </p:nvSpPr>
        <p:spPr>
          <a:xfrm>
            <a:off x="822960" y="4928616"/>
            <a:ext cx="1383792"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k = 1</a:t>
            </a:r>
            <a:endParaRPr lang="en-US" sz="950" dirty="0"/>
          </a:p>
        </p:txBody>
      </p:sp>
      <p:sp>
        <p:nvSpPr>
          <p:cNvPr id="15" name="Text 12"/>
          <p:cNvSpPr txBox="1"/>
          <p:nvPr/>
        </p:nvSpPr>
        <p:spPr>
          <a:xfrm>
            <a:off x="822960" y="5129784"/>
            <a:ext cx="1383792" cy="384048"/>
          </a:xfrm>
          <a:prstGeom prst="rect">
            <a:avLst/>
          </a:prstGeom>
          <a:noFill/>
          <a:ln/>
        </p:spPr>
        <p:txBody>
          <a:bodyPr wrap="square" lIns="0" tIns="0" rIns="0" bIns="0" rtlCol="0" anchor="ctr"/>
          <a:lstStyle/>
          <a:p>
            <a:pPr marL="0" indent="0" algn="ctr">
              <a:buNone/>
            </a:pPr>
            <a:r>
              <a:rPr lang="en-US" sz="1600" b="1" dirty="0">
                <a:solidFill>
                  <a:srgbClr val="22D3EE"/>
                </a:solidFill>
                <a:latin typeface="Arial" pitchFamily="34" charset="0"/>
                <a:ea typeface="Arial" pitchFamily="34" charset="-122"/>
                <a:cs typeface="Arial" pitchFamily="34" charset="-120"/>
              </a:rPr>
              <a:t>0.014864</a:t>
            </a:r>
            <a:endParaRPr lang="en-US" sz="1600" dirty="0"/>
          </a:p>
        </p:txBody>
      </p:sp>
      <p:sp>
        <p:nvSpPr>
          <p:cNvPr id="16" name="Shape 13"/>
          <p:cNvSpPr/>
          <p:nvPr/>
        </p:nvSpPr>
        <p:spPr>
          <a:xfrm>
            <a:off x="2371344" y="4846320"/>
            <a:ext cx="1383792"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7" name="Text 14"/>
          <p:cNvSpPr txBox="1"/>
          <p:nvPr/>
        </p:nvSpPr>
        <p:spPr>
          <a:xfrm>
            <a:off x="2371344" y="4928616"/>
            <a:ext cx="1383792"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k = 50</a:t>
            </a:r>
            <a:endParaRPr lang="en-US" sz="950" dirty="0"/>
          </a:p>
        </p:txBody>
      </p:sp>
      <p:sp>
        <p:nvSpPr>
          <p:cNvPr id="18" name="Text 15"/>
          <p:cNvSpPr txBox="1"/>
          <p:nvPr/>
        </p:nvSpPr>
        <p:spPr>
          <a:xfrm>
            <a:off x="2371344" y="5129784"/>
            <a:ext cx="1383792" cy="384048"/>
          </a:xfrm>
          <a:prstGeom prst="rect">
            <a:avLst/>
          </a:prstGeom>
          <a:noFill/>
          <a:ln/>
        </p:spPr>
        <p:txBody>
          <a:bodyPr wrap="square" lIns="0" tIns="0" rIns="0" bIns="0" rtlCol="0" anchor="ctr"/>
          <a:lstStyle/>
          <a:p>
            <a:pPr marL="0" indent="0" algn="ctr">
              <a:buNone/>
            </a:pPr>
            <a:r>
              <a:rPr lang="en-US" sz="1600" b="1" dirty="0">
                <a:solidFill>
                  <a:srgbClr val="22D3EE"/>
                </a:solidFill>
                <a:latin typeface="Arial" pitchFamily="34" charset="0"/>
                <a:ea typeface="Arial" pitchFamily="34" charset="-122"/>
                <a:cs typeface="Arial" pitchFamily="34" charset="-120"/>
              </a:rPr>
              <a:t>0.002239</a:t>
            </a:r>
            <a:endParaRPr lang="en-US" sz="1600" dirty="0"/>
          </a:p>
        </p:txBody>
      </p:sp>
      <p:sp>
        <p:nvSpPr>
          <p:cNvPr id="19" name="Shape 16"/>
          <p:cNvSpPr/>
          <p:nvPr/>
        </p:nvSpPr>
        <p:spPr>
          <a:xfrm>
            <a:off x="3919728" y="4846320"/>
            <a:ext cx="1383792"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20" name="Text 17"/>
          <p:cNvSpPr txBox="1"/>
          <p:nvPr/>
        </p:nvSpPr>
        <p:spPr>
          <a:xfrm>
            <a:off x="3919728" y="4928616"/>
            <a:ext cx="1383792"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k = 250</a:t>
            </a:r>
            <a:endParaRPr lang="en-US" sz="950" dirty="0"/>
          </a:p>
        </p:txBody>
      </p:sp>
      <p:sp>
        <p:nvSpPr>
          <p:cNvPr id="21" name="Text 18"/>
          <p:cNvSpPr txBox="1"/>
          <p:nvPr/>
        </p:nvSpPr>
        <p:spPr>
          <a:xfrm>
            <a:off x="3919728" y="5129784"/>
            <a:ext cx="1383792" cy="384048"/>
          </a:xfrm>
          <a:prstGeom prst="rect">
            <a:avLst/>
          </a:prstGeom>
          <a:noFill/>
          <a:ln/>
        </p:spPr>
        <p:txBody>
          <a:bodyPr wrap="square" lIns="0" tIns="0" rIns="0" bIns="0" rtlCol="0" anchor="ctr"/>
          <a:lstStyle/>
          <a:p>
            <a:pPr marL="0" indent="0" algn="ctr">
              <a:buNone/>
            </a:pPr>
            <a:r>
              <a:rPr lang="en-US" sz="1600" b="1" dirty="0">
                <a:solidFill>
                  <a:srgbClr val="22D3EE"/>
                </a:solidFill>
                <a:latin typeface="Arial" pitchFamily="34" charset="0"/>
                <a:ea typeface="Arial" pitchFamily="34" charset="-122"/>
                <a:cs typeface="Arial" pitchFamily="34" charset="-120"/>
              </a:rPr>
              <a:t>0.0000402</a:t>
            </a:r>
            <a:endParaRPr lang="en-US" sz="1600" dirty="0"/>
          </a:p>
        </p:txBody>
      </p:sp>
      <p:sp>
        <p:nvSpPr>
          <p:cNvPr id="22" name="Shape 19"/>
          <p:cNvSpPr/>
          <p:nvPr/>
        </p:nvSpPr>
        <p:spPr>
          <a:xfrm>
            <a:off x="5897880" y="1417320"/>
            <a:ext cx="5745175" cy="4352544"/>
          </a:xfrm>
          <a:prstGeom prst="roundRect">
            <a:avLst>
              <a:gd name="adj" fmla="val 1471"/>
            </a:avLst>
          </a:prstGeom>
          <a:solidFill>
            <a:srgbClr val="FFFFFF"/>
          </a:solidFill>
          <a:ln w="6350">
            <a:solidFill>
              <a:srgbClr val="FFFFFF"/>
            </a:solidFill>
            <a:prstDash val="solid"/>
          </a:ln>
        </p:spPr>
        <p:txBody>
          <a:bodyPr/>
          <a:lstStyle/>
          <a:p>
            <a:endParaRPr lang="en-US"/>
          </a:p>
        </p:txBody>
      </p:sp>
      <p:pic>
        <p:nvPicPr>
          <p:cNvPr id="23" name="Image 0" descr="/home/claude/work/nb_images/cell23_0.png"/>
          <p:cNvPicPr>
            <a:picLocks noChangeAspect="1"/>
          </p:cNvPicPr>
          <p:nvPr/>
        </p:nvPicPr>
        <p:blipFill>
          <a:blip r:embed="rId3"/>
          <a:stretch>
            <a:fillRect/>
          </a:stretch>
        </p:blipFill>
        <p:spPr>
          <a:xfrm>
            <a:off x="6099048" y="1820192"/>
            <a:ext cx="5342839" cy="3546800"/>
          </a:xfrm>
          <a:prstGeom prst="rect">
            <a:avLst/>
          </a:prstGeom>
        </p:spPr>
      </p:pic>
      <p:sp>
        <p:nvSpPr>
          <p:cNvPr id="24" name="Text 20"/>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MSE = mean squared error  ·  n = number of images scored  ·  d = 4096 pixels per image  ·  i = image index, j = pixel index  ·  X = original pixel values, X̂ = reconstructed pixel values  ·  k = components retained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08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PHASE 3 · EVALUATION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Cumulative Explained Variance</a:t>
            </a:r>
            <a:endParaRPr lang="en-US" sz="2800" dirty="0"/>
          </a:p>
        </p:txBody>
      </p:sp>
      <p:sp>
        <p:nvSpPr>
          <p:cNvPr id="7" name="Shape 4"/>
          <p:cNvSpPr/>
          <p:nvPr/>
        </p:nvSpPr>
        <p:spPr>
          <a:xfrm>
            <a:off x="548640" y="1417320"/>
            <a:ext cx="4572000"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27632"/>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DEFINITION</a:t>
            </a:r>
            <a:endParaRPr lang="en-US" sz="1100" dirty="0"/>
          </a:p>
        </p:txBody>
      </p:sp>
      <p:sp>
        <p:nvSpPr>
          <p:cNvPr id="9" name="Shape 6"/>
          <p:cNvSpPr/>
          <p:nvPr/>
        </p:nvSpPr>
        <p:spPr>
          <a:xfrm>
            <a:off x="822960" y="1920240"/>
            <a:ext cx="4023360" cy="621792"/>
          </a:xfrm>
          <a:prstGeom prst="roundRect">
            <a:avLst>
              <a:gd name="adj" fmla="val 8824"/>
            </a:avLst>
          </a:prstGeom>
          <a:solidFill>
            <a:srgbClr val="1B2438"/>
          </a:solidFill>
          <a:ln w="7620">
            <a:solidFill>
              <a:srgbClr val="27324A"/>
            </a:solidFill>
            <a:prstDash val="solid"/>
          </a:ln>
        </p:spPr>
        <p:txBody>
          <a:bodyPr/>
          <a:lstStyle/>
          <a:p>
            <a:endParaRPr lang="en-US"/>
          </a:p>
        </p:txBody>
      </p:sp>
      <p:sp>
        <p:nvSpPr>
          <p:cNvPr id="10" name="Text 7"/>
          <p:cNvSpPr txBox="1"/>
          <p:nvPr/>
        </p:nvSpPr>
        <p:spPr>
          <a:xfrm>
            <a:off x="822960" y="1920240"/>
            <a:ext cx="4023360" cy="621792"/>
          </a:xfrm>
          <a:prstGeom prst="rect">
            <a:avLst/>
          </a:prstGeom>
          <a:noFill/>
          <a:ln/>
        </p:spPr>
        <p:txBody>
          <a:bodyPr wrap="square" lIns="0" tIns="0" rIns="0" bIns="0" rtlCol="0" anchor="ctr"/>
          <a:lstStyle/>
          <a:p>
            <a:pPr marL="0" indent="0" algn="ctr">
              <a:buNone/>
            </a:pPr>
            <a:r>
              <a:rPr lang="en-US" sz="1200" dirty="0">
                <a:solidFill>
                  <a:srgbClr val="F8FAFC"/>
                </a:solidFill>
                <a:latin typeface="Courier New" pitchFamily="34" charset="0"/>
                <a:ea typeface="Courier New" pitchFamily="34" charset="-122"/>
                <a:cs typeface="Courier New" pitchFamily="34" charset="-120"/>
              </a:rPr>
              <a:t>V(k) = (λ₁ + … + λₖ) / (λ₁ + … + λ_d)</a:t>
            </a:r>
            <a:endParaRPr lang="en-US" sz="1200" dirty="0"/>
          </a:p>
        </p:txBody>
      </p:sp>
      <p:sp>
        <p:nvSpPr>
          <p:cNvPr id="11" name="Text 8"/>
          <p:cNvSpPr txBox="1"/>
          <p:nvPr/>
        </p:nvSpPr>
        <p:spPr>
          <a:xfrm>
            <a:off x="822960" y="2688336"/>
            <a:ext cx="4023360" cy="100584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Eigenvalues are sorted from largest to smallest, so V(k) rises steeply at first and then flattens. The ten leading eigenvalues run 18.31, 11.39, 6.25, 4.13, 2.93, 2.62, 1.96, 1.73, 1.59, 1.41.</a:t>
            </a:r>
            <a:endParaRPr lang="en-US" sz="1200" dirty="0"/>
          </a:p>
        </p:txBody>
      </p:sp>
      <p:sp>
        <p:nvSpPr>
          <p:cNvPr id="12" name="Shape 9"/>
          <p:cNvSpPr/>
          <p:nvPr/>
        </p:nvSpPr>
        <p:spPr>
          <a:xfrm>
            <a:off x="822960" y="3749040"/>
            <a:ext cx="124358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3" name="Text 10"/>
          <p:cNvSpPr txBox="1"/>
          <p:nvPr/>
        </p:nvSpPr>
        <p:spPr>
          <a:xfrm>
            <a:off x="822960" y="3831336"/>
            <a:ext cx="124358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90 %</a:t>
            </a:r>
            <a:endParaRPr lang="en-US" sz="950" dirty="0"/>
          </a:p>
        </p:txBody>
      </p:sp>
      <p:sp>
        <p:nvSpPr>
          <p:cNvPr id="14" name="Text 11"/>
          <p:cNvSpPr txBox="1"/>
          <p:nvPr/>
        </p:nvSpPr>
        <p:spPr>
          <a:xfrm>
            <a:off x="822960" y="4032504"/>
            <a:ext cx="1243584" cy="384048"/>
          </a:xfrm>
          <a:prstGeom prst="rect">
            <a:avLst/>
          </a:prstGeom>
          <a:noFill/>
          <a:ln/>
        </p:spPr>
        <p:txBody>
          <a:bodyPr wrap="square" lIns="0" tIns="0" rIns="0" bIns="0" rtlCol="0" anchor="ctr"/>
          <a:lstStyle/>
          <a:p>
            <a:pPr marL="0" indent="0" algn="ctr">
              <a:buNone/>
            </a:pPr>
            <a:r>
              <a:rPr lang="en-US" sz="1600" b="1" dirty="0">
                <a:solidFill>
                  <a:srgbClr val="8B5CF6"/>
                </a:solidFill>
                <a:latin typeface="Arial" pitchFamily="34" charset="0"/>
                <a:ea typeface="Arial" pitchFamily="34" charset="-122"/>
                <a:cs typeface="Arial" pitchFamily="34" charset="-120"/>
              </a:rPr>
              <a:t>k = 59</a:t>
            </a:r>
            <a:endParaRPr lang="en-US" sz="1600" dirty="0"/>
          </a:p>
        </p:txBody>
      </p:sp>
      <p:sp>
        <p:nvSpPr>
          <p:cNvPr id="15" name="Shape 12"/>
          <p:cNvSpPr/>
          <p:nvPr/>
        </p:nvSpPr>
        <p:spPr>
          <a:xfrm>
            <a:off x="2212848" y="3749040"/>
            <a:ext cx="124358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6" name="Text 13"/>
          <p:cNvSpPr txBox="1"/>
          <p:nvPr/>
        </p:nvSpPr>
        <p:spPr>
          <a:xfrm>
            <a:off x="2212848" y="3831336"/>
            <a:ext cx="124358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95 %</a:t>
            </a:r>
            <a:endParaRPr lang="en-US" sz="950" dirty="0"/>
          </a:p>
        </p:txBody>
      </p:sp>
      <p:sp>
        <p:nvSpPr>
          <p:cNvPr id="17" name="Text 14"/>
          <p:cNvSpPr txBox="1"/>
          <p:nvPr/>
        </p:nvSpPr>
        <p:spPr>
          <a:xfrm>
            <a:off x="2212848" y="4032504"/>
            <a:ext cx="1243584" cy="384048"/>
          </a:xfrm>
          <a:prstGeom prst="rect">
            <a:avLst/>
          </a:prstGeom>
          <a:noFill/>
          <a:ln/>
        </p:spPr>
        <p:txBody>
          <a:bodyPr wrap="square" lIns="0" tIns="0" rIns="0" bIns="0" rtlCol="0" anchor="ctr"/>
          <a:lstStyle/>
          <a:p>
            <a:pPr marL="0" indent="0" algn="ctr">
              <a:buNone/>
            </a:pPr>
            <a:r>
              <a:rPr lang="en-US" sz="1600" b="1" dirty="0">
                <a:solidFill>
                  <a:srgbClr val="8B5CF6"/>
                </a:solidFill>
                <a:latin typeface="Arial" pitchFamily="34" charset="0"/>
                <a:ea typeface="Arial" pitchFamily="34" charset="-122"/>
                <a:cs typeface="Arial" pitchFamily="34" charset="-120"/>
              </a:rPr>
              <a:t>k = 104</a:t>
            </a:r>
            <a:endParaRPr lang="en-US" sz="1600" dirty="0"/>
          </a:p>
        </p:txBody>
      </p:sp>
      <p:sp>
        <p:nvSpPr>
          <p:cNvPr id="18" name="Shape 15"/>
          <p:cNvSpPr/>
          <p:nvPr/>
        </p:nvSpPr>
        <p:spPr>
          <a:xfrm>
            <a:off x="3602736" y="3749040"/>
            <a:ext cx="1243584"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9" name="Text 16"/>
          <p:cNvSpPr txBox="1"/>
          <p:nvPr/>
        </p:nvSpPr>
        <p:spPr>
          <a:xfrm>
            <a:off x="3602736" y="3831336"/>
            <a:ext cx="1243584"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99 %</a:t>
            </a:r>
            <a:endParaRPr lang="en-US" sz="950" dirty="0"/>
          </a:p>
        </p:txBody>
      </p:sp>
      <p:sp>
        <p:nvSpPr>
          <p:cNvPr id="20" name="Text 17"/>
          <p:cNvSpPr txBox="1"/>
          <p:nvPr/>
        </p:nvSpPr>
        <p:spPr>
          <a:xfrm>
            <a:off x="3602736" y="4032504"/>
            <a:ext cx="1243584" cy="384048"/>
          </a:xfrm>
          <a:prstGeom prst="rect">
            <a:avLst/>
          </a:prstGeom>
          <a:noFill/>
          <a:ln/>
        </p:spPr>
        <p:txBody>
          <a:bodyPr wrap="square" lIns="0" tIns="0" rIns="0" bIns="0" rtlCol="0" anchor="ctr"/>
          <a:lstStyle/>
          <a:p>
            <a:pPr marL="0" indent="0" algn="ctr">
              <a:buNone/>
            </a:pPr>
            <a:r>
              <a:rPr lang="en-US" sz="1600" b="1" dirty="0">
                <a:solidFill>
                  <a:srgbClr val="8B5CF6"/>
                </a:solidFill>
                <a:latin typeface="Arial" pitchFamily="34" charset="0"/>
                <a:ea typeface="Arial" pitchFamily="34" charset="-122"/>
                <a:cs typeface="Arial" pitchFamily="34" charset="-120"/>
              </a:rPr>
              <a:t>k = 199</a:t>
            </a:r>
            <a:endParaRPr lang="en-US" sz="1600" dirty="0"/>
          </a:p>
        </p:txBody>
      </p:sp>
      <p:sp>
        <p:nvSpPr>
          <p:cNvPr id="21" name="Text 18"/>
          <p:cNvSpPr txBox="1"/>
          <p:nvPr/>
        </p:nvSpPr>
        <p:spPr>
          <a:xfrm>
            <a:off x="822960" y="4709160"/>
            <a:ext cx="4023360" cy="1005840"/>
          </a:xfrm>
          <a:prstGeom prst="rect">
            <a:avLst/>
          </a:prstGeom>
          <a:noFill/>
          <a:ln/>
        </p:spPr>
        <p:txBody>
          <a:bodyPr wrap="square" lIns="0" tIns="0" rIns="0" bIns="0" rtlCol="0" anchor="t"/>
          <a:lstStyle/>
          <a:p>
            <a:pPr marL="0" indent="0">
              <a:lnSpc>
                <a:spcPct val="122000"/>
              </a:lnSpc>
              <a:buNone/>
            </a:pPr>
            <a:r>
              <a:rPr lang="en-US" sz="1150" dirty="0">
                <a:solidFill>
                  <a:srgbClr val="F8FAFC"/>
                </a:solidFill>
                <a:latin typeface="Arial" pitchFamily="34" charset="0"/>
                <a:ea typeface="Arial" pitchFamily="34" charset="-122"/>
                <a:cs typeface="Arial" pitchFamily="34" charset="-120"/>
              </a:rPr>
              <a:t>With 280 centred training images, at most 279 directions carry non-zero variance. Retained variance is not accuracy: 95 % explained variance does not imply 95 % recognition.</a:t>
            </a:r>
            <a:endParaRPr lang="en-US" sz="1150" dirty="0"/>
          </a:p>
        </p:txBody>
      </p:sp>
      <p:sp>
        <p:nvSpPr>
          <p:cNvPr id="22" name="Shape 19"/>
          <p:cNvSpPr/>
          <p:nvPr/>
        </p:nvSpPr>
        <p:spPr>
          <a:xfrm>
            <a:off x="5440680" y="1417320"/>
            <a:ext cx="6202375" cy="4352544"/>
          </a:xfrm>
          <a:prstGeom prst="roundRect">
            <a:avLst>
              <a:gd name="adj" fmla="val 1471"/>
            </a:avLst>
          </a:prstGeom>
          <a:solidFill>
            <a:srgbClr val="FFFFFF"/>
          </a:solidFill>
          <a:ln w="6350">
            <a:solidFill>
              <a:srgbClr val="FFFFFF"/>
            </a:solidFill>
            <a:prstDash val="solid"/>
          </a:ln>
        </p:spPr>
        <p:txBody>
          <a:bodyPr/>
          <a:lstStyle/>
          <a:p>
            <a:endParaRPr lang="en-US"/>
          </a:p>
        </p:txBody>
      </p:sp>
      <p:pic>
        <p:nvPicPr>
          <p:cNvPr id="23" name="Image 0" descr="/home/claude/work/nb_images/cell23_2.png"/>
          <p:cNvPicPr>
            <a:picLocks noChangeAspect="1"/>
          </p:cNvPicPr>
          <p:nvPr/>
        </p:nvPicPr>
        <p:blipFill>
          <a:blip r:embed="rId3"/>
          <a:stretch>
            <a:fillRect/>
          </a:stretch>
        </p:blipFill>
        <p:spPr>
          <a:xfrm>
            <a:off x="5641848" y="1838824"/>
            <a:ext cx="5800039" cy="3509537"/>
          </a:xfrm>
          <a:prstGeom prst="rect">
            <a:avLst/>
          </a:prstGeom>
        </p:spPr>
      </p:pic>
      <p:sp>
        <p:nvSpPr>
          <p:cNvPr id="24" name="Text 20"/>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λⱼ = j-th eigenvalue, the variance along eigenvector j  ·  V(k) = share of total training variance carried by the first k components  ·  k = components retained  ·  d = 4096 pixels per image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09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VISUAL VALIDATION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Original vs. Reconstructed Faces</a:t>
            </a:r>
            <a:endParaRPr lang="en-US" sz="2800" dirty="0"/>
          </a:p>
        </p:txBody>
      </p:sp>
      <p:sp>
        <p:nvSpPr>
          <p:cNvPr id="7" name="Shape 4"/>
          <p:cNvSpPr/>
          <p:nvPr/>
        </p:nvSpPr>
        <p:spPr>
          <a:xfrm>
            <a:off x="548640" y="1417320"/>
            <a:ext cx="3977640" cy="4352544"/>
          </a:xfrm>
          <a:prstGeom prst="roundRect">
            <a:avLst>
              <a:gd name="adj" fmla="val 2069"/>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45920"/>
            <a:ext cx="347472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WHAT TO LOOK FOR</a:t>
            </a:r>
            <a:endParaRPr lang="en-US" sz="1100" dirty="0"/>
          </a:p>
        </p:txBody>
      </p:sp>
      <p:sp>
        <p:nvSpPr>
          <p:cNvPr id="9" name="Text 6"/>
          <p:cNvSpPr txBox="1"/>
          <p:nvPr/>
        </p:nvSpPr>
        <p:spPr>
          <a:xfrm>
            <a:off x="822960" y="1975104"/>
            <a:ext cx="3429000" cy="320040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50" dirty="0">
                <a:solidFill>
                  <a:srgbClr val="F8FAFC"/>
                </a:solidFill>
                <a:latin typeface="Arial" pitchFamily="34" charset="0"/>
                <a:ea typeface="Arial" pitchFamily="34" charset="-122"/>
                <a:cs typeface="Arial" pitchFamily="34" charset="-120"/>
              </a:rPr>
              <a:t>k = 10 keeps the broad face shape and lighting but loses identity-specific detail.</a:t>
            </a:r>
            <a:endParaRPr lang="en-US" sz="1150" dirty="0"/>
          </a:p>
          <a:p>
            <a:pPr marL="342900" indent="-342900">
              <a:lnSpc>
                <a:spcPct val="105000"/>
              </a:lnSpc>
              <a:spcAft>
                <a:spcPts val="600"/>
              </a:spcAft>
              <a:buSzPct val="100000"/>
              <a:buChar char="•"/>
            </a:pPr>
            <a:r>
              <a:rPr lang="en-US" sz="1150" dirty="0">
                <a:solidFill>
                  <a:srgbClr val="F8FAFC"/>
                </a:solidFill>
                <a:latin typeface="Arial" pitchFamily="34" charset="0"/>
                <a:ea typeface="Arial" pitchFamily="34" charset="-122"/>
                <a:cs typeface="Arial" pitchFamily="34" charset="-120"/>
              </a:rPr>
              <a:t>k = 50 recovers glasses frames, eye shape and mouth line — this is where faces become individually recognisable.</a:t>
            </a:r>
            <a:endParaRPr lang="en-US" sz="1150" dirty="0"/>
          </a:p>
          <a:p>
            <a:pPr marL="342900" indent="-342900">
              <a:lnSpc>
                <a:spcPct val="105000"/>
              </a:lnSpc>
              <a:spcAft>
                <a:spcPts val="600"/>
              </a:spcAft>
              <a:buSzPct val="100000"/>
              <a:buChar char="•"/>
            </a:pPr>
            <a:r>
              <a:rPr lang="en-US" sz="1150" dirty="0">
                <a:solidFill>
                  <a:srgbClr val="F8FAFC"/>
                </a:solidFill>
                <a:latin typeface="Arial" pitchFamily="34" charset="0"/>
                <a:ea typeface="Arial" pitchFamily="34" charset="-122"/>
                <a:cs typeface="Arial" pitchFamily="34" charset="-120"/>
              </a:rPr>
              <a:t>k = 100 and k = 150 mainly sharpen texture; the perceptual gain over 50 is small.</a:t>
            </a:r>
            <a:endParaRPr lang="en-US" sz="1150" dirty="0"/>
          </a:p>
          <a:p>
            <a:pPr marL="342900" indent="-342900">
              <a:lnSpc>
                <a:spcPct val="105000"/>
              </a:lnSpc>
              <a:spcAft>
                <a:spcPts val="600"/>
              </a:spcAft>
              <a:buSzPct val="100000"/>
              <a:buChar char="•"/>
            </a:pPr>
            <a:r>
              <a:rPr lang="en-US" sz="1150" dirty="0">
                <a:solidFill>
                  <a:srgbClr val="F8FAFC"/>
                </a:solidFill>
                <a:latin typeface="Arial" pitchFamily="34" charset="0"/>
                <a:ea typeface="Arial" pitchFamily="34" charset="-122"/>
                <a:cs typeface="Arial" pitchFamily="34" charset="-120"/>
              </a:rPr>
              <a:t>This mirrors the MSE curve: the steep part of the drop is over well before k = 100.</a:t>
            </a:r>
            <a:endParaRPr lang="en-US" sz="1150" dirty="0"/>
          </a:p>
        </p:txBody>
      </p:sp>
      <p:sp>
        <p:nvSpPr>
          <p:cNvPr id="10" name="Text 7"/>
          <p:cNvSpPr txBox="1"/>
          <p:nvPr/>
        </p:nvSpPr>
        <p:spPr>
          <a:xfrm>
            <a:off x="822960" y="5230368"/>
            <a:ext cx="3429000" cy="457200"/>
          </a:xfrm>
          <a:prstGeom prst="rect">
            <a:avLst/>
          </a:prstGeom>
          <a:noFill/>
          <a:ln/>
        </p:spPr>
        <p:txBody>
          <a:bodyPr wrap="square" lIns="0" tIns="0" rIns="0" bIns="0" rtlCol="0" anchor="ctr"/>
          <a:lstStyle/>
          <a:p>
            <a:pPr marL="0" indent="0">
              <a:lnSpc>
                <a:spcPct val="110000"/>
              </a:lnSpc>
              <a:buNone/>
            </a:pPr>
            <a:r>
              <a:rPr lang="en-US" sz="1000" dirty="0">
                <a:solidFill>
                  <a:srgbClr val="94A3B8"/>
                </a:solidFill>
                <a:latin typeface="Arial" pitchFamily="34" charset="0"/>
                <a:ea typeface="Arial" pitchFamily="34" charset="-122"/>
                <a:cs typeface="Arial" pitchFamily="34" charset="-120"/>
              </a:rPr>
              <a:t>Rows: 4 identities  ·  Columns: original, then k = 10, 50, 100, 150. Training images.</a:t>
            </a:r>
            <a:endParaRPr lang="en-US" sz="1000" dirty="0"/>
          </a:p>
        </p:txBody>
      </p:sp>
      <p:sp>
        <p:nvSpPr>
          <p:cNvPr id="11" name="Shape 8"/>
          <p:cNvSpPr/>
          <p:nvPr/>
        </p:nvSpPr>
        <p:spPr>
          <a:xfrm>
            <a:off x="4846320" y="1417320"/>
            <a:ext cx="6796735" cy="4352544"/>
          </a:xfrm>
          <a:prstGeom prst="roundRect">
            <a:avLst>
              <a:gd name="adj" fmla="val 1471"/>
            </a:avLst>
          </a:prstGeom>
          <a:solidFill>
            <a:srgbClr val="FFFFFF"/>
          </a:solidFill>
          <a:ln w="6350">
            <a:solidFill>
              <a:srgbClr val="FFFFFF"/>
            </a:solidFill>
            <a:prstDash val="solid"/>
          </a:ln>
        </p:spPr>
        <p:txBody>
          <a:bodyPr/>
          <a:lstStyle/>
          <a:p>
            <a:endParaRPr lang="en-US"/>
          </a:p>
        </p:txBody>
      </p:sp>
      <p:pic>
        <p:nvPicPr>
          <p:cNvPr id="12" name="Image 0" descr="/home/claude/work/nb_images/cell29_0.png"/>
          <p:cNvPicPr>
            <a:picLocks noChangeAspect="1"/>
          </p:cNvPicPr>
          <p:nvPr/>
        </p:nvPicPr>
        <p:blipFill>
          <a:blip r:embed="rId3"/>
          <a:stretch>
            <a:fillRect/>
          </a:stretch>
        </p:blipFill>
        <p:spPr>
          <a:xfrm>
            <a:off x="5697108" y="1527048"/>
            <a:ext cx="5095160" cy="4133088"/>
          </a:xfrm>
          <a:prstGeom prst="rect">
            <a:avLst/>
          </a:prstGeom>
        </p:spPr>
      </p:pic>
      <p:sp>
        <p:nvSpPr>
          <p:cNvPr id="13" name="Text 9"/>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k = number of principal components used to encode and then reconstruct the image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10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SELECTING K · METHOD 1</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Elbow (Knee) Method — Reconstruction-Based</a:t>
            </a:r>
            <a:endParaRPr lang="en-US" sz="2800" dirty="0"/>
          </a:p>
        </p:txBody>
      </p:sp>
      <p:sp>
        <p:nvSpPr>
          <p:cNvPr id="7" name="Shape 4"/>
          <p:cNvSpPr/>
          <p:nvPr/>
        </p:nvSpPr>
        <p:spPr>
          <a:xfrm>
            <a:off x="548640" y="1417320"/>
            <a:ext cx="5029200"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45920"/>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HOW IT WORKS</a:t>
            </a:r>
            <a:endParaRPr lang="en-US" sz="1100" dirty="0"/>
          </a:p>
        </p:txBody>
      </p:sp>
      <p:sp>
        <p:nvSpPr>
          <p:cNvPr id="9" name="Text 6"/>
          <p:cNvSpPr txBox="1"/>
          <p:nvPr/>
        </p:nvSpPr>
        <p:spPr>
          <a:xfrm>
            <a:off x="822960" y="1975104"/>
            <a:ext cx="4480560" cy="1280160"/>
          </a:xfrm>
          <a:prstGeom prst="rect">
            <a:avLst/>
          </a:prstGeom>
          <a:noFill/>
          <a:ln/>
        </p:spPr>
        <p:txBody>
          <a:bodyPr wrap="square" lIns="0" tIns="0" rIns="0" bIns="0" rtlCol="0" anchor="t"/>
          <a:lstStyle/>
          <a:p>
            <a:pPr marL="0" indent="0">
              <a:lnSpc>
                <a:spcPct val="122000"/>
              </a:lnSpc>
              <a:buNone/>
            </a:pPr>
            <a:r>
              <a:rPr lang="en-US" sz="1250" dirty="0">
                <a:solidFill>
                  <a:srgbClr val="F8FAFC"/>
                </a:solidFill>
                <a:latin typeface="Arial" pitchFamily="34" charset="0"/>
                <a:ea typeface="Arial" pitchFamily="34" charset="-122"/>
                <a:cs typeface="Arial" pitchFamily="34" charset="-120"/>
              </a:rPr>
              <a:t>A straight line is drawn between the first and last point of the error curve. The perpendicular distance from every sampled point to that line is computed, and the k with the largest distance is the elbow — where the steep decline turns into a slow one.</a:t>
            </a:r>
            <a:endParaRPr lang="en-US" sz="1250" dirty="0"/>
          </a:p>
        </p:txBody>
      </p:sp>
      <p:sp>
        <p:nvSpPr>
          <p:cNvPr id="10" name="Text 7"/>
          <p:cNvSpPr txBox="1"/>
          <p:nvPr/>
        </p:nvSpPr>
        <p:spPr>
          <a:xfrm>
            <a:off x="822960" y="3291840"/>
            <a:ext cx="4480560" cy="1234440"/>
          </a:xfrm>
          <a:prstGeom prst="rect">
            <a:avLst/>
          </a:prstGeom>
          <a:noFill/>
          <a:ln/>
        </p:spPr>
        <p:txBody>
          <a:bodyPr wrap="square" lIns="0" tIns="0" rIns="0" bIns="0" rtlCol="0" anchor="t"/>
          <a:lstStyle/>
          <a:p>
            <a:pPr marL="0" indent="0">
              <a:lnSpc>
                <a:spcPct val="122000"/>
              </a:lnSpc>
              <a:buNone/>
            </a:pPr>
            <a:r>
              <a:rPr lang="en-US" sz="1250" dirty="0">
                <a:solidFill>
                  <a:srgbClr val="F8FAFC"/>
                </a:solidFill>
                <a:latin typeface="Arial" pitchFamily="34" charset="0"/>
                <a:ea typeface="Arial" pitchFamily="34" charset="-122"/>
                <a:cs typeface="Arial" pitchFamily="34" charset="-120"/>
              </a:rPr>
              <a:t>The result is a candidate, not a proven optimum: it depends on which k values were sampled and on the scale of the axes. It should be read alongside the reconstructed images and the variance curve rather than on its own.</a:t>
            </a:r>
            <a:endParaRPr lang="en-US" sz="1250" dirty="0"/>
          </a:p>
        </p:txBody>
      </p:sp>
      <p:sp>
        <p:nvSpPr>
          <p:cNvPr id="11" name="Shape 8"/>
          <p:cNvSpPr/>
          <p:nvPr/>
        </p:nvSpPr>
        <p:spPr>
          <a:xfrm>
            <a:off x="822960" y="4617720"/>
            <a:ext cx="4480560" cy="914400"/>
          </a:xfrm>
          <a:prstGeom prst="roundRect">
            <a:avLst>
              <a:gd name="adj" fmla="val 8000"/>
            </a:avLst>
          </a:prstGeom>
          <a:solidFill>
            <a:srgbClr val="0E7490"/>
          </a:solidFill>
          <a:ln w="9525">
            <a:solidFill>
              <a:srgbClr val="22D3EE"/>
            </a:solidFill>
            <a:prstDash val="solid"/>
          </a:ln>
        </p:spPr>
        <p:txBody>
          <a:bodyPr/>
          <a:lstStyle/>
          <a:p>
            <a:endParaRPr lang="en-US"/>
          </a:p>
        </p:txBody>
      </p:sp>
      <p:sp>
        <p:nvSpPr>
          <p:cNvPr id="12" name="Text 9"/>
          <p:cNvSpPr txBox="1"/>
          <p:nvPr/>
        </p:nvSpPr>
        <p:spPr>
          <a:xfrm>
            <a:off x="1097280" y="4617720"/>
            <a:ext cx="2011680" cy="914400"/>
          </a:xfrm>
          <a:prstGeom prst="rect">
            <a:avLst/>
          </a:prstGeom>
          <a:noFill/>
          <a:ln/>
        </p:spPr>
        <p:txBody>
          <a:bodyPr wrap="square" lIns="0" tIns="0" rIns="0" bIns="0" rtlCol="0" anchor="ctr"/>
          <a:lstStyle/>
          <a:p>
            <a:pPr marL="0" indent="0">
              <a:buNone/>
            </a:pPr>
            <a:r>
              <a:rPr lang="en-US" sz="1300" dirty="0">
                <a:solidFill>
                  <a:srgbClr val="E0F7FA"/>
                </a:solidFill>
                <a:latin typeface="Arial" pitchFamily="34" charset="0"/>
                <a:ea typeface="Arial" pitchFamily="34" charset="-122"/>
                <a:cs typeface="Arial" pitchFamily="34" charset="-120"/>
              </a:rPr>
              <a:t>Elbow k</a:t>
            </a:r>
            <a:endParaRPr lang="en-US" sz="1300" dirty="0"/>
          </a:p>
        </p:txBody>
      </p:sp>
      <p:sp>
        <p:nvSpPr>
          <p:cNvPr id="13" name="Text 10"/>
          <p:cNvSpPr txBox="1"/>
          <p:nvPr/>
        </p:nvSpPr>
        <p:spPr>
          <a:xfrm>
            <a:off x="2743200" y="4617720"/>
            <a:ext cx="2286000" cy="914400"/>
          </a:xfrm>
          <a:prstGeom prst="rect">
            <a:avLst/>
          </a:prstGeom>
          <a:noFill/>
          <a:ln/>
        </p:spPr>
        <p:txBody>
          <a:bodyPr wrap="square" lIns="0" tIns="0" rIns="0" bIns="0" rtlCol="0" anchor="ctr"/>
          <a:lstStyle/>
          <a:p>
            <a:pPr marL="0" indent="0" algn="r">
              <a:buNone/>
            </a:pPr>
            <a:r>
              <a:rPr lang="en-US" sz="3400" b="1" dirty="0">
                <a:solidFill>
                  <a:srgbClr val="FFFFFF"/>
                </a:solidFill>
                <a:latin typeface="Arial" pitchFamily="34" charset="0"/>
                <a:ea typeface="Arial" pitchFamily="34" charset="-122"/>
                <a:cs typeface="Arial" pitchFamily="34" charset="-120"/>
              </a:rPr>
              <a:t>50</a:t>
            </a:r>
            <a:endParaRPr lang="en-US" sz="3400" dirty="0"/>
          </a:p>
        </p:txBody>
      </p:sp>
      <p:sp>
        <p:nvSpPr>
          <p:cNvPr id="14" name="Shape 11"/>
          <p:cNvSpPr/>
          <p:nvPr/>
        </p:nvSpPr>
        <p:spPr>
          <a:xfrm>
            <a:off x="5897880" y="1417320"/>
            <a:ext cx="5745175" cy="4352544"/>
          </a:xfrm>
          <a:prstGeom prst="roundRect">
            <a:avLst>
              <a:gd name="adj" fmla="val 1471"/>
            </a:avLst>
          </a:prstGeom>
          <a:solidFill>
            <a:srgbClr val="FFFFFF"/>
          </a:solidFill>
          <a:ln w="6350">
            <a:solidFill>
              <a:srgbClr val="FFFFFF"/>
            </a:solidFill>
            <a:prstDash val="solid"/>
          </a:ln>
        </p:spPr>
        <p:txBody>
          <a:bodyPr/>
          <a:lstStyle/>
          <a:p>
            <a:endParaRPr lang="en-US"/>
          </a:p>
        </p:txBody>
      </p:sp>
      <p:pic>
        <p:nvPicPr>
          <p:cNvPr id="15" name="Image 0" descr="/home/claude/work/nb_images/cell37_0.png"/>
          <p:cNvPicPr>
            <a:picLocks noChangeAspect="1"/>
          </p:cNvPicPr>
          <p:nvPr/>
        </p:nvPicPr>
        <p:blipFill>
          <a:blip r:embed="rId3"/>
          <a:stretch>
            <a:fillRect/>
          </a:stretch>
        </p:blipFill>
        <p:spPr>
          <a:xfrm>
            <a:off x="6099048" y="1820192"/>
            <a:ext cx="5342839" cy="3546800"/>
          </a:xfrm>
          <a:prstGeom prst="rect">
            <a:avLst/>
          </a:prstGeom>
        </p:spPr>
      </p:pic>
      <p:sp>
        <p:nvSpPr>
          <p:cNvPr id="16" name="Text 12"/>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k = number of principal components retained  ·  MSE = mean squared reconstruction error on the training images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11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SELECTING K · METHOD 2</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Silhouette Score — Identity-Separation Based</a:t>
            </a:r>
            <a:endParaRPr lang="en-US" sz="2800" dirty="0"/>
          </a:p>
        </p:txBody>
      </p:sp>
      <p:sp>
        <p:nvSpPr>
          <p:cNvPr id="7" name="Shape 4"/>
          <p:cNvSpPr/>
          <p:nvPr/>
        </p:nvSpPr>
        <p:spPr>
          <a:xfrm>
            <a:off x="548640" y="1417320"/>
            <a:ext cx="5029200"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45920"/>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HOW IT WORKS</a:t>
            </a:r>
            <a:endParaRPr lang="en-US" sz="1100" dirty="0"/>
          </a:p>
        </p:txBody>
      </p:sp>
      <p:sp>
        <p:nvSpPr>
          <p:cNvPr id="9" name="Text 6"/>
          <p:cNvSpPr txBox="1"/>
          <p:nvPr/>
        </p:nvSpPr>
        <p:spPr>
          <a:xfrm>
            <a:off x="822960" y="1975104"/>
            <a:ext cx="4480560" cy="68580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Unlike the elbow method this needs the true identity labels; it runs no clustering. For each projected training image i:</a:t>
            </a:r>
            <a:endParaRPr lang="en-US" sz="1200" dirty="0"/>
          </a:p>
        </p:txBody>
      </p:sp>
      <p:sp>
        <p:nvSpPr>
          <p:cNvPr id="10" name="Shape 7"/>
          <p:cNvSpPr/>
          <p:nvPr/>
        </p:nvSpPr>
        <p:spPr>
          <a:xfrm>
            <a:off x="822960" y="2743200"/>
            <a:ext cx="4480560" cy="566928"/>
          </a:xfrm>
          <a:prstGeom prst="roundRect">
            <a:avLst>
              <a:gd name="adj" fmla="val 9677"/>
            </a:avLst>
          </a:prstGeom>
          <a:solidFill>
            <a:srgbClr val="1B2438"/>
          </a:solidFill>
          <a:ln w="7620">
            <a:solidFill>
              <a:srgbClr val="27324A"/>
            </a:solidFill>
            <a:prstDash val="solid"/>
          </a:ln>
        </p:spPr>
        <p:txBody>
          <a:bodyPr/>
          <a:lstStyle/>
          <a:p>
            <a:endParaRPr lang="en-US"/>
          </a:p>
        </p:txBody>
      </p:sp>
      <p:sp>
        <p:nvSpPr>
          <p:cNvPr id="11" name="Text 8"/>
          <p:cNvSpPr txBox="1"/>
          <p:nvPr/>
        </p:nvSpPr>
        <p:spPr>
          <a:xfrm>
            <a:off x="822960" y="2743200"/>
            <a:ext cx="4480560" cy="566928"/>
          </a:xfrm>
          <a:prstGeom prst="rect">
            <a:avLst/>
          </a:prstGeom>
          <a:noFill/>
          <a:ln/>
        </p:spPr>
        <p:txBody>
          <a:bodyPr wrap="square" lIns="0" tIns="0" rIns="0" bIns="0" rtlCol="0" anchor="ctr"/>
          <a:lstStyle/>
          <a:p>
            <a:pPr marL="0" indent="0" algn="ctr">
              <a:buNone/>
            </a:pPr>
            <a:r>
              <a:rPr lang="en-US" sz="1250" dirty="0">
                <a:solidFill>
                  <a:srgbClr val="F8FAFC"/>
                </a:solidFill>
                <a:latin typeface="Courier New" pitchFamily="34" charset="0"/>
                <a:ea typeface="Courier New" pitchFamily="34" charset="-122"/>
                <a:cs typeface="Courier New" pitchFamily="34" charset="-120"/>
              </a:rPr>
              <a:t>s(i) = ( b(i) − a(i) ) / max( a(i), b(i) )</a:t>
            </a:r>
            <a:endParaRPr lang="en-US" sz="1250" dirty="0"/>
          </a:p>
        </p:txBody>
      </p:sp>
      <p:sp>
        <p:nvSpPr>
          <p:cNvPr id="12" name="Text 9"/>
          <p:cNvSpPr txBox="1"/>
          <p:nvPr/>
        </p:nvSpPr>
        <p:spPr>
          <a:xfrm>
            <a:off x="822960" y="3438144"/>
            <a:ext cx="4480560" cy="1143000"/>
          </a:xfrm>
          <a:prstGeom prst="rect">
            <a:avLst/>
          </a:prstGeom>
          <a:noFill/>
          <a:ln/>
        </p:spPr>
        <p:txBody>
          <a:bodyPr wrap="square" lIns="0" tIns="0" rIns="0" bIns="0" rtlCol="0" anchor="t"/>
          <a:lstStyle/>
          <a:p>
            <a:pPr marL="0" indent="0">
              <a:lnSpc>
                <a:spcPct val="122000"/>
              </a:lnSpc>
              <a:buNone/>
            </a:pPr>
            <a:r>
              <a:rPr lang="en-US" sz="1200" dirty="0">
                <a:solidFill>
                  <a:srgbClr val="F8FAFC"/>
                </a:solidFill>
                <a:latin typeface="Arial" pitchFamily="34" charset="0"/>
                <a:ea typeface="Arial" pitchFamily="34" charset="-122"/>
                <a:cs typeface="Arial" pitchFamily="34" charset="-120"/>
              </a:rPr>
              <a:t>A score near 1 means identities are well separated; near 0 means they overlap; a negative score means the face sits closer on average to another person's group. The mean score peaks at k = 20 (0.1605) and declines to 0.1061 at k = 200 — extra components add pixel detail, not separation.</a:t>
            </a:r>
            <a:endParaRPr lang="en-US" sz="1200" dirty="0"/>
          </a:p>
        </p:txBody>
      </p:sp>
      <p:sp>
        <p:nvSpPr>
          <p:cNvPr id="13" name="Shape 10"/>
          <p:cNvSpPr/>
          <p:nvPr/>
        </p:nvSpPr>
        <p:spPr>
          <a:xfrm>
            <a:off x="822960" y="4617720"/>
            <a:ext cx="4480560" cy="914400"/>
          </a:xfrm>
          <a:prstGeom prst="roundRect">
            <a:avLst>
              <a:gd name="adj" fmla="val 8000"/>
            </a:avLst>
          </a:prstGeom>
          <a:solidFill>
            <a:srgbClr val="5B21B6"/>
          </a:solidFill>
          <a:ln w="9525">
            <a:solidFill>
              <a:srgbClr val="8B5CF6"/>
            </a:solidFill>
            <a:prstDash val="solid"/>
          </a:ln>
        </p:spPr>
        <p:txBody>
          <a:bodyPr/>
          <a:lstStyle/>
          <a:p>
            <a:endParaRPr lang="en-US"/>
          </a:p>
        </p:txBody>
      </p:sp>
      <p:sp>
        <p:nvSpPr>
          <p:cNvPr id="14" name="Text 11"/>
          <p:cNvSpPr txBox="1"/>
          <p:nvPr/>
        </p:nvSpPr>
        <p:spPr>
          <a:xfrm>
            <a:off x="1097280" y="4617720"/>
            <a:ext cx="2194560" cy="914400"/>
          </a:xfrm>
          <a:prstGeom prst="rect">
            <a:avLst/>
          </a:prstGeom>
          <a:noFill/>
          <a:ln/>
        </p:spPr>
        <p:txBody>
          <a:bodyPr wrap="square" lIns="0" tIns="0" rIns="0" bIns="0" rtlCol="0" anchor="ctr"/>
          <a:lstStyle/>
          <a:p>
            <a:pPr marL="0" indent="0">
              <a:buNone/>
            </a:pPr>
            <a:r>
              <a:rPr lang="en-US" sz="1300" dirty="0">
                <a:solidFill>
                  <a:srgbClr val="EDE9FE"/>
                </a:solidFill>
                <a:latin typeface="Arial" pitchFamily="34" charset="0"/>
                <a:ea typeface="Arial" pitchFamily="34" charset="-122"/>
                <a:cs typeface="Arial" pitchFamily="34" charset="-120"/>
              </a:rPr>
              <a:t>Silhouette k</a:t>
            </a:r>
            <a:endParaRPr lang="en-US" sz="1300" dirty="0"/>
          </a:p>
        </p:txBody>
      </p:sp>
      <p:sp>
        <p:nvSpPr>
          <p:cNvPr id="15" name="Text 12"/>
          <p:cNvSpPr txBox="1"/>
          <p:nvPr/>
        </p:nvSpPr>
        <p:spPr>
          <a:xfrm>
            <a:off x="2743200" y="4617720"/>
            <a:ext cx="2286000" cy="914400"/>
          </a:xfrm>
          <a:prstGeom prst="rect">
            <a:avLst/>
          </a:prstGeom>
          <a:noFill/>
          <a:ln/>
        </p:spPr>
        <p:txBody>
          <a:bodyPr wrap="square" lIns="0" tIns="0" rIns="0" bIns="0" rtlCol="0" anchor="ctr"/>
          <a:lstStyle/>
          <a:p>
            <a:pPr marL="0" indent="0" algn="r">
              <a:buNone/>
            </a:pPr>
            <a:r>
              <a:rPr lang="en-US" sz="3400" b="1" dirty="0">
                <a:solidFill>
                  <a:srgbClr val="FFFFFF"/>
                </a:solidFill>
                <a:latin typeface="Arial" pitchFamily="34" charset="0"/>
                <a:ea typeface="Arial" pitchFamily="34" charset="-122"/>
                <a:cs typeface="Arial" pitchFamily="34" charset="-120"/>
              </a:rPr>
              <a:t>20</a:t>
            </a:r>
            <a:endParaRPr lang="en-US" sz="3400" dirty="0"/>
          </a:p>
        </p:txBody>
      </p:sp>
      <p:sp>
        <p:nvSpPr>
          <p:cNvPr id="16" name="Shape 13"/>
          <p:cNvSpPr/>
          <p:nvPr/>
        </p:nvSpPr>
        <p:spPr>
          <a:xfrm>
            <a:off x="5897880" y="1417320"/>
            <a:ext cx="5745175" cy="4352544"/>
          </a:xfrm>
          <a:prstGeom prst="roundRect">
            <a:avLst>
              <a:gd name="adj" fmla="val 1471"/>
            </a:avLst>
          </a:prstGeom>
          <a:solidFill>
            <a:srgbClr val="FFFFFF"/>
          </a:solidFill>
          <a:ln w="6350">
            <a:solidFill>
              <a:srgbClr val="FFFFFF"/>
            </a:solidFill>
            <a:prstDash val="solid"/>
          </a:ln>
        </p:spPr>
        <p:txBody>
          <a:bodyPr/>
          <a:lstStyle/>
          <a:p>
            <a:endParaRPr lang="en-US"/>
          </a:p>
        </p:txBody>
      </p:sp>
      <p:pic>
        <p:nvPicPr>
          <p:cNvPr id="17" name="Image 0" descr="/home/claude/work/nb_images/cell41_0.png"/>
          <p:cNvPicPr>
            <a:picLocks noChangeAspect="1"/>
          </p:cNvPicPr>
          <p:nvPr/>
        </p:nvPicPr>
        <p:blipFill>
          <a:blip r:embed="rId3"/>
          <a:stretch>
            <a:fillRect/>
          </a:stretch>
        </p:blipFill>
        <p:spPr>
          <a:xfrm>
            <a:off x="6099048" y="1799925"/>
            <a:ext cx="5342839" cy="3587335"/>
          </a:xfrm>
          <a:prstGeom prst="rect">
            <a:avLst/>
          </a:prstGeom>
        </p:spPr>
      </p:pic>
      <p:sp>
        <p:nvSpPr>
          <p:cNvPr id="18" name="Text 14"/>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i = index of one projected training image  ·  a(i) = mean distance from image i to the other images of the same identity  ·  b(i) = smallest mean distance from image i to any other identity's group  ·  s(i) = silhouette score of image i  ·  k = components retained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12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RECOGNITION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KNN Accuracy in PCA Space — Fold 1 Validation</a:t>
            </a:r>
            <a:endParaRPr lang="en-US" sz="2800" dirty="0"/>
          </a:p>
        </p:txBody>
      </p:sp>
      <p:sp>
        <p:nvSpPr>
          <p:cNvPr id="7" name="Shape 4"/>
          <p:cNvSpPr/>
          <p:nvPr/>
        </p:nvSpPr>
        <p:spPr>
          <a:xfrm>
            <a:off x="548640" y="1417320"/>
            <a:ext cx="5029200"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8" name="Text 5"/>
          <p:cNvSpPr txBox="1"/>
          <p:nvPr/>
        </p:nvSpPr>
        <p:spPr>
          <a:xfrm>
            <a:off x="822960" y="1645920"/>
            <a:ext cx="27432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METRICS USED</a:t>
            </a:r>
            <a:endParaRPr lang="en-US" sz="1100" dirty="0"/>
          </a:p>
        </p:txBody>
      </p:sp>
      <p:sp>
        <p:nvSpPr>
          <p:cNvPr id="9" name="Text 6"/>
          <p:cNvSpPr txBox="1"/>
          <p:nvPr/>
        </p:nvSpPr>
        <p:spPr>
          <a:xfrm>
            <a:off x="822960" y="1975104"/>
            <a:ext cx="4480560" cy="219456"/>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Accuracy</a:t>
            </a:r>
            <a:endParaRPr lang="en-US" sz="1150" dirty="0"/>
          </a:p>
        </p:txBody>
      </p:sp>
      <p:sp>
        <p:nvSpPr>
          <p:cNvPr id="10" name="Text 7"/>
          <p:cNvSpPr txBox="1"/>
          <p:nvPr/>
        </p:nvSpPr>
        <p:spPr>
          <a:xfrm>
            <a:off x="822960" y="2185416"/>
            <a:ext cx="4480560" cy="292608"/>
          </a:xfrm>
          <a:prstGeom prst="rect">
            <a:avLst/>
          </a:prstGeom>
          <a:noFill/>
          <a:ln/>
        </p:spPr>
        <p:txBody>
          <a:bodyPr wrap="square" lIns="0" tIns="0" rIns="0" bIns="0" rtlCol="0" anchor="ctr"/>
          <a:lstStyle/>
          <a:p>
            <a:pPr marL="0" indent="0">
              <a:lnSpc>
                <a:spcPct val="105000"/>
              </a:lnSpc>
              <a:buNone/>
            </a:pPr>
            <a:r>
              <a:rPr lang="en-US" sz="1050" dirty="0">
                <a:solidFill>
                  <a:srgbClr val="94A3B8"/>
                </a:solidFill>
                <a:latin typeface="Arial" pitchFamily="34" charset="0"/>
                <a:ea typeface="Arial" pitchFamily="34" charset="-122"/>
                <a:cs typeface="Arial" pitchFamily="34" charset="-120"/>
              </a:rPr>
              <a:t>share of validation images given the correct identity</a:t>
            </a:r>
            <a:endParaRPr lang="en-US" sz="1050" dirty="0"/>
          </a:p>
        </p:txBody>
      </p:sp>
      <p:sp>
        <p:nvSpPr>
          <p:cNvPr id="11" name="Text 8"/>
          <p:cNvSpPr txBox="1"/>
          <p:nvPr/>
        </p:nvSpPr>
        <p:spPr>
          <a:xfrm>
            <a:off x="822960" y="2542032"/>
            <a:ext cx="4480560" cy="219456"/>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Precision (weighted)</a:t>
            </a:r>
            <a:endParaRPr lang="en-US" sz="1150" dirty="0"/>
          </a:p>
        </p:txBody>
      </p:sp>
      <p:sp>
        <p:nvSpPr>
          <p:cNvPr id="12" name="Text 9"/>
          <p:cNvSpPr txBox="1"/>
          <p:nvPr/>
        </p:nvSpPr>
        <p:spPr>
          <a:xfrm>
            <a:off x="822960" y="2752344"/>
            <a:ext cx="4480560" cy="292608"/>
          </a:xfrm>
          <a:prstGeom prst="rect">
            <a:avLst/>
          </a:prstGeom>
          <a:noFill/>
          <a:ln/>
        </p:spPr>
        <p:txBody>
          <a:bodyPr wrap="square" lIns="0" tIns="0" rIns="0" bIns="0" rtlCol="0" anchor="ctr"/>
          <a:lstStyle/>
          <a:p>
            <a:pPr marL="0" indent="0">
              <a:lnSpc>
                <a:spcPct val="105000"/>
              </a:lnSpc>
              <a:buNone/>
            </a:pPr>
            <a:r>
              <a:rPr lang="en-US" sz="1050" dirty="0">
                <a:solidFill>
                  <a:srgbClr val="94A3B8"/>
                </a:solidFill>
                <a:latin typeface="Arial" pitchFamily="34" charset="0"/>
                <a:ea typeface="Arial" pitchFamily="34" charset="-122"/>
                <a:cs typeface="Arial" pitchFamily="34" charset="-120"/>
              </a:rPr>
              <a:t>of the predictions made for an identity, the share that were right</a:t>
            </a:r>
            <a:endParaRPr lang="en-US" sz="1050" dirty="0"/>
          </a:p>
        </p:txBody>
      </p:sp>
      <p:sp>
        <p:nvSpPr>
          <p:cNvPr id="13" name="Text 10"/>
          <p:cNvSpPr txBox="1"/>
          <p:nvPr/>
        </p:nvSpPr>
        <p:spPr>
          <a:xfrm>
            <a:off x="822960" y="3108960"/>
            <a:ext cx="4480560" cy="219456"/>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Recall (weighted)</a:t>
            </a:r>
            <a:endParaRPr lang="en-US" sz="1150" dirty="0"/>
          </a:p>
        </p:txBody>
      </p:sp>
      <p:sp>
        <p:nvSpPr>
          <p:cNvPr id="14" name="Text 11"/>
          <p:cNvSpPr txBox="1"/>
          <p:nvPr/>
        </p:nvSpPr>
        <p:spPr>
          <a:xfrm>
            <a:off x="822960" y="3319272"/>
            <a:ext cx="4480560" cy="292608"/>
          </a:xfrm>
          <a:prstGeom prst="rect">
            <a:avLst/>
          </a:prstGeom>
          <a:noFill/>
          <a:ln/>
        </p:spPr>
        <p:txBody>
          <a:bodyPr wrap="square" lIns="0" tIns="0" rIns="0" bIns="0" rtlCol="0" anchor="ctr"/>
          <a:lstStyle/>
          <a:p>
            <a:pPr marL="0" indent="0">
              <a:lnSpc>
                <a:spcPct val="105000"/>
              </a:lnSpc>
              <a:buNone/>
            </a:pPr>
            <a:r>
              <a:rPr lang="en-US" sz="1050" dirty="0">
                <a:solidFill>
                  <a:srgbClr val="94A3B8"/>
                </a:solidFill>
                <a:latin typeface="Arial" pitchFamily="34" charset="0"/>
                <a:ea typeface="Arial" pitchFamily="34" charset="-122"/>
                <a:cs typeface="Arial" pitchFamily="34" charset="-120"/>
              </a:rPr>
              <a:t>of an identity's true images, the share that were found</a:t>
            </a:r>
            <a:endParaRPr lang="en-US" sz="1050" dirty="0"/>
          </a:p>
        </p:txBody>
      </p:sp>
      <p:sp>
        <p:nvSpPr>
          <p:cNvPr id="15" name="Text 12"/>
          <p:cNvSpPr txBox="1"/>
          <p:nvPr/>
        </p:nvSpPr>
        <p:spPr>
          <a:xfrm>
            <a:off x="822960" y="3675888"/>
            <a:ext cx="4480560" cy="219456"/>
          </a:xfrm>
          <a:prstGeom prst="rect">
            <a:avLst/>
          </a:prstGeom>
          <a:noFill/>
          <a:ln/>
        </p:spPr>
        <p:txBody>
          <a:bodyPr wrap="square" lIns="0" tIns="0" rIns="0" bIns="0" rtlCol="0" anchor="ctr"/>
          <a:lstStyle/>
          <a:p>
            <a:pPr marL="0" indent="0">
              <a:buNone/>
            </a:pPr>
            <a:r>
              <a:rPr lang="en-US" sz="1150" b="1" dirty="0">
                <a:solidFill>
                  <a:srgbClr val="22D3EE"/>
                </a:solidFill>
                <a:latin typeface="Arial" pitchFamily="34" charset="0"/>
                <a:ea typeface="Arial" pitchFamily="34" charset="-122"/>
                <a:cs typeface="Arial" pitchFamily="34" charset="-120"/>
              </a:rPr>
              <a:t>F1-score (weighted)</a:t>
            </a:r>
            <a:endParaRPr lang="en-US" sz="1150" dirty="0"/>
          </a:p>
        </p:txBody>
      </p:sp>
      <p:sp>
        <p:nvSpPr>
          <p:cNvPr id="16" name="Text 13"/>
          <p:cNvSpPr txBox="1"/>
          <p:nvPr/>
        </p:nvSpPr>
        <p:spPr>
          <a:xfrm>
            <a:off x="822960" y="3886200"/>
            <a:ext cx="4480560" cy="292608"/>
          </a:xfrm>
          <a:prstGeom prst="rect">
            <a:avLst/>
          </a:prstGeom>
          <a:noFill/>
          <a:ln/>
        </p:spPr>
        <p:txBody>
          <a:bodyPr wrap="square" lIns="0" tIns="0" rIns="0" bIns="0" rtlCol="0" anchor="ctr"/>
          <a:lstStyle/>
          <a:p>
            <a:pPr marL="0" indent="0">
              <a:lnSpc>
                <a:spcPct val="105000"/>
              </a:lnSpc>
              <a:buNone/>
            </a:pPr>
            <a:r>
              <a:rPr lang="en-US" sz="1050" dirty="0">
                <a:solidFill>
                  <a:srgbClr val="94A3B8"/>
                </a:solidFill>
                <a:latin typeface="Arial" pitchFamily="34" charset="0"/>
                <a:ea typeface="Arial" pitchFamily="34" charset="-122"/>
                <a:cs typeface="Arial" pitchFamily="34" charset="-120"/>
              </a:rPr>
              <a:t>harmonic mean of precision and recall</a:t>
            </a:r>
            <a:endParaRPr lang="en-US" sz="1050" dirty="0"/>
          </a:p>
        </p:txBody>
      </p:sp>
      <p:sp>
        <p:nvSpPr>
          <p:cNvPr id="17" name="Shape 14"/>
          <p:cNvSpPr/>
          <p:nvPr/>
        </p:nvSpPr>
        <p:spPr>
          <a:xfrm>
            <a:off x="822960" y="4261104"/>
            <a:ext cx="4480560" cy="1417320"/>
          </a:xfrm>
          <a:prstGeom prst="roundRect">
            <a:avLst>
              <a:gd name="adj" fmla="val 5806"/>
            </a:avLst>
          </a:prstGeom>
          <a:solidFill>
            <a:srgbClr val="1B2438"/>
          </a:solidFill>
          <a:ln w="9525">
            <a:solidFill>
              <a:srgbClr val="27324A"/>
            </a:solidFill>
            <a:prstDash val="solid"/>
          </a:ln>
        </p:spPr>
        <p:txBody>
          <a:bodyPr/>
          <a:lstStyle/>
          <a:p>
            <a:endParaRPr lang="en-US"/>
          </a:p>
        </p:txBody>
      </p:sp>
      <p:sp>
        <p:nvSpPr>
          <p:cNvPr id="18" name="Text 15"/>
          <p:cNvSpPr txBox="1"/>
          <p:nvPr/>
        </p:nvSpPr>
        <p:spPr>
          <a:xfrm>
            <a:off x="1051560" y="4443984"/>
            <a:ext cx="4023360" cy="1097280"/>
          </a:xfrm>
          <a:prstGeom prst="rect">
            <a:avLst/>
          </a:prstGeom>
          <a:noFill/>
          <a:ln/>
        </p:spPr>
        <p:txBody>
          <a:bodyPr wrap="square" lIns="0" tIns="0" rIns="0" bIns="0" rtlCol="0" anchor="t"/>
          <a:lstStyle/>
          <a:p>
            <a:pPr marL="0" indent="0">
              <a:lnSpc>
                <a:spcPct val="122000"/>
              </a:lnSpc>
              <a:buNone/>
            </a:pPr>
            <a:r>
              <a:rPr lang="en-US" sz="1150" dirty="0">
                <a:solidFill>
                  <a:srgbClr val="F8FAFC"/>
                </a:solidFill>
                <a:latin typeface="Arial" pitchFamily="34" charset="0"/>
                <a:ea typeface="Arial" pitchFamily="34" charset="-122"/>
                <a:cs typeface="Arial" pitchFamily="34" charset="-120"/>
              </a:rPr>
              <a:t>1-NN reaches 0.900 at k = 10 and k = 20 and saturates at 0.950 from k = 50 onward. The k = 50, n_neighbors = 3 baseline scores 0.800 — the neighbour count matters more than the component count here.</a:t>
            </a:r>
            <a:endParaRPr lang="en-US" sz="1150" dirty="0"/>
          </a:p>
        </p:txBody>
      </p:sp>
      <p:sp>
        <p:nvSpPr>
          <p:cNvPr id="19" name="Shape 16"/>
          <p:cNvSpPr/>
          <p:nvPr/>
        </p:nvSpPr>
        <p:spPr>
          <a:xfrm>
            <a:off x="5897880" y="1417320"/>
            <a:ext cx="5745175" cy="3803904"/>
          </a:xfrm>
          <a:prstGeom prst="roundRect">
            <a:avLst>
              <a:gd name="adj" fmla="val 1683"/>
            </a:avLst>
          </a:prstGeom>
          <a:solidFill>
            <a:srgbClr val="FFFFFF"/>
          </a:solidFill>
          <a:ln w="6350">
            <a:solidFill>
              <a:srgbClr val="FFFFFF"/>
            </a:solidFill>
            <a:prstDash val="solid"/>
          </a:ln>
        </p:spPr>
        <p:txBody>
          <a:bodyPr/>
          <a:lstStyle/>
          <a:p>
            <a:endParaRPr lang="en-US"/>
          </a:p>
        </p:txBody>
      </p:sp>
      <p:pic>
        <p:nvPicPr>
          <p:cNvPr id="20" name="Image 0" descr="/home/claude/work/nb_images/cell51_0.png"/>
          <p:cNvPicPr>
            <a:picLocks noChangeAspect="1"/>
          </p:cNvPicPr>
          <p:nvPr/>
        </p:nvPicPr>
        <p:blipFill>
          <a:blip r:embed="rId3"/>
          <a:stretch>
            <a:fillRect/>
          </a:stretch>
        </p:blipFill>
        <p:spPr>
          <a:xfrm>
            <a:off x="6237385" y="1618488"/>
            <a:ext cx="5066165" cy="3401568"/>
          </a:xfrm>
          <a:prstGeom prst="rect">
            <a:avLst/>
          </a:prstGeom>
        </p:spPr>
      </p:pic>
      <p:sp>
        <p:nvSpPr>
          <p:cNvPr id="21" name="Text 17"/>
          <p:cNvSpPr txBox="1"/>
          <p:nvPr/>
        </p:nvSpPr>
        <p:spPr>
          <a:xfrm>
            <a:off x="5897880" y="5321808"/>
            <a:ext cx="5745175" cy="457200"/>
          </a:xfrm>
          <a:prstGeom prst="rect">
            <a:avLst/>
          </a:prstGeom>
          <a:noFill/>
          <a:ln/>
        </p:spPr>
        <p:txBody>
          <a:bodyPr wrap="square" lIns="0" tIns="0" rIns="0" bIns="0" rtlCol="0" anchor="ctr"/>
          <a:lstStyle/>
          <a:p>
            <a:pPr marL="0" indent="0">
              <a:lnSpc>
                <a:spcPct val="110000"/>
              </a:lnSpc>
              <a:buNone/>
            </a:pPr>
            <a:r>
              <a:rPr lang="en-US" sz="1050" dirty="0">
                <a:solidFill>
                  <a:srgbClr val="94A3B8"/>
                </a:solidFill>
                <a:latin typeface="Arial" pitchFamily="34" charset="0"/>
                <a:ea typeface="Arial" pitchFamily="34" charset="-122"/>
                <a:cs typeface="Arial" pitchFamily="34" charset="-120"/>
              </a:rPr>
              <a:t>Because the task is single-label over 40 classes, weighted recall equals accuracy — matching columns are a correctness check, not a coincidence.</a:t>
            </a:r>
            <a:endParaRPr lang="en-US" sz="1050" dirty="0"/>
          </a:p>
        </p:txBody>
      </p:sp>
      <p:sp>
        <p:nvSpPr>
          <p:cNvPr id="22" name="Text 18"/>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k = number of PCA components used to represent each face  ·  n_neighbors = number of training faces that vote on one query  ·  accuracy, precision, recall and F1 are fractions between 0 and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13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PHASE 3 · CROSS-VALIDATION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Five-Fold Results — Selection on Validation, Scoring on Test</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3093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4048">
                <a:tc>
                  <a:txBody>
                    <a:bodyPr/>
                    <a:lstStyle/>
                    <a:p>
                      <a:pPr marL="0" indent="0" algn="ctr">
                        <a:buNone/>
                      </a:pPr>
                      <a:r>
                        <a:rPr lang="en-US" sz="1100" b="1" dirty="0">
                          <a:solidFill>
                            <a:srgbClr val="22D3EE"/>
                          </a:solidFill>
                          <a:latin typeface="Arial" pitchFamily="34" charset="0"/>
                          <a:ea typeface="Arial" pitchFamily="34" charset="-122"/>
                          <a:cs typeface="Arial" pitchFamily="34" charset="-120"/>
                        </a:rPr>
                        <a:t>Fold</a:t>
                      </a:r>
                      <a:endParaRPr lang="en-US" sz="11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tc>
                  <a:txBody>
                    <a:bodyPr/>
                    <a:lstStyle/>
                    <a:p>
                      <a:pPr marL="0" indent="0" algn="ctr">
                        <a:buNone/>
                      </a:pPr>
                      <a:r>
                        <a:rPr lang="en-US" sz="1100" b="1" dirty="0">
                          <a:solidFill>
                            <a:srgbClr val="22D3EE"/>
                          </a:solidFill>
                          <a:latin typeface="Arial" pitchFamily="34" charset="0"/>
                          <a:ea typeface="Arial" pitchFamily="34" charset="-122"/>
                          <a:cs typeface="Arial" pitchFamily="34" charset="-120"/>
                        </a:rPr>
                        <a:t>Selected k</a:t>
                      </a:r>
                      <a:endParaRPr lang="en-US" sz="11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tc>
                  <a:txBody>
                    <a:bodyPr/>
                    <a:lstStyle/>
                    <a:p>
                      <a:pPr marL="0" indent="0" algn="ctr">
                        <a:buNone/>
                      </a:pPr>
                      <a:r>
                        <a:rPr lang="en-US" sz="1100" b="1" dirty="0">
                          <a:solidFill>
                            <a:srgbClr val="22D3EE"/>
                          </a:solidFill>
                          <a:latin typeface="Arial" pitchFamily="34" charset="0"/>
                          <a:ea typeface="Arial" pitchFamily="34" charset="-122"/>
                          <a:cs typeface="Arial" pitchFamily="34" charset="-120"/>
                        </a:rPr>
                        <a:t>n_neighbors</a:t>
                      </a:r>
                      <a:endParaRPr lang="en-US" sz="11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tc>
                  <a:txBody>
                    <a:bodyPr/>
                    <a:lstStyle/>
                    <a:p>
                      <a:pPr marL="0" indent="0" algn="ctr">
                        <a:buNone/>
                      </a:pPr>
                      <a:r>
                        <a:rPr lang="en-US" sz="1100" b="1" dirty="0">
                          <a:solidFill>
                            <a:srgbClr val="22D3EE"/>
                          </a:solidFill>
                          <a:latin typeface="Arial" pitchFamily="34" charset="0"/>
                          <a:ea typeface="Arial" pitchFamily="34" charset="-122"/>
                          <a:cs typeface="Arial" pitchFamily="34" charset="-120"/>
                        </a:rPr>
                        <a:t>Validation acc.</a:t>
                      </a:r>
                      <a:endParaRPr lang="en-US" sz="11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tc>
                  <a:txBody>
                    <a:bodyPr/>
                    <a:lstStyle/>
                    <a:p>
                      <a:pPr marL="0" indent="0" algn="ctr">
                        <a:buNone/>
                      </a:pPr>
                      <a:r>
                        <a:rPr lang="en-US" sz="1100" b="1" dirty="0">
                          <a:solidFill>
                            <a:srgbClr val="22D3EE"/>
                          </a:solidFill>
                          <a:latin typeface="Arial" pitchFamily="34" charset="0"/>
                          <a:ea typeface="Arial" pitchFamily="34" charset="-122"/>
                          <a:cs typeface="Arial" pitchFamily="34" charset="-120"/>
                        </a:rPr>
                        <a:t>Test acc.</a:t>
                      </a:r>
                      <a:endParaRPr lang="en-US" sz="11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extLst>
                  <a:ext uri="{0D108BD9-81ED-4DB2-BD59-A6C34878D82A}">
                    <a16:rowId xmlns:a16="http://schemas.microsoft.com/office/drawing/2014/main" val="10000"/>
                  </a:ext>
                </a:extLst>
              </a:tr>
              <a:tr h="384048">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150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0.9625</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b="1" dirty="0">
                          <a:solidFill>
                            <a:srgbClr val="34D399"/>
                          </a:solidFill>
                          <a:latin typeface="Arial" pitchFamily="34" charset="0"/>
                          <a:ea typeface="Arial" pitchFamily="34" charset="-122"/>
                          <a:cs typeface="Arial" pitchFamily="34" charset="-120"/>
                        </a:rPr>
                        <a:t>0.9375</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1"/>
                  </a:ext>
                </a:extLst>
              </a:tr>
              <a:tr h="384048">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0.8625</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b="1" dirty="0">
                          <a:solidFill>
                            <a:srgbClr val="34D399"/>
                          </a:solidFill>
                          <a:latin typeface="Arial" pitchFamily="34" charset="0"/>
                          <a:ea typeface="Arial" pitchFamily="34" charset="-122"/>
                          <a:cs typeface="Arial" pitchFamily="34" charset="-120"/>
                        </a:rPr>
                        <a:t>0.9375</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2"/>
                  </a:ext>
                </a:extLst>
              </a:tr>
              <a:tr h="384048">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0.9000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b="1" dirty="0">
                          <a:solidFill>
                            <a:srgbClr val="34D399"/>
                          </a:solidFill>
                          <a:latin typeface="Arial" pitchFamily="34" charset="0"/>
                          <a:ea typeface="Arial" pitchFamily="34" charset="-122"/>
                          <a:cs typeface="Arial" pitchFamily="34" charset="-120"/>
                        </a:rPr>
                        <a:t>0.8750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3"/>
                  </a:ext>
                </a:extLst>
              </a:tr>
              <a:tr h="384048">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50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0.9250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b="1" dirty="0">
                          <a:solidFill>
                            <a:srgbClr val="34D399"/>
                          </a:solidFill>
                          <a:latin typeface="Arial" pitchFamily="34" charset="0"/>
                          <a:ea typeface="Arial" pitchFamily="34" charset="-122"/>
                          <a:cs typeface="Arial" pitchFamily="34" charset="-120"/>
                        </a:rPr>
                        <a:t>0.8625</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4"/>
                  </a:ext>
                </a:extLst>
              </a:tr>
              <a:tr h="384048">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dirty="0">
                          <a:solidFill>
                            <a:srgbClr val="F8FAFC"/>
                          </a:solidFill>
                          <a:latin typeface="Arial" pitchFamily="34" charset="0"/>
                          <a:ea typeface="Arial" pitchFamily="34" charset="-122"/>
                          <a:cs typeface="Arial" pitchFamily="34" charset="-120"/>
                        </a:rPr>
                        <a:t>0.8750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150" b="1" dirty="0">
                          <a:solidFill>
                            <a:srgbClr val="34D399"/>
                          </a:solidFill>
                          <a:latin typeface="Arial" pitchFamily="34" charset="0"/>
                          <a:ea typeface="Arial" pitchFamily="34" charset="-122"/>
                          <a:cs typeface="Arial" pitchFamily="34" charset="-120"/>
                        </a:rPr>
                        <a:t>0.9000</a:t>
                      </a:r>
                      <a:endParaRPr lang="en-US" sz="115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4160520"/>
            <a:ext cx="1981200"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9" name="Text 5"/>
          <p:cNvSpPr txBox="1"/>
          <p:nvPr/>
        </p:nvSpPr>
        <p:spPr>
          <a:xfrm>
            <a:off x="548640" y="4242816"/>
            <a:ext cx="1981200"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mean test accuracy</a:t>
            </a:r>
            <a:endParaRPr lang="en-US" sz="950" dirty="0"/>
          </a:p>
        </p:txBody>
      </p:sp>
      <p:sp>
        <p:nvSpPr>
          <p:cNvPr id="10" name="Text 6"/>
          <p:cNvSpPr txBox="1"/>
          <p:nvPr/>
        </p:nvSpPr>
        <p:spPr>
          <a:xfrm>
            <a:off x="548640" y="4443984"/>
            <a:ext cx="1981200" cy="384048"/>
          </a:xfrm>
          <a:prstGeom prst="rect">
            <a:avLst/>
          </a:prstGeom>
          <a:noFill/>
          <a:ln/>
        </p:spPr>
        <p:txBody>
          <a:bodyPr wrap="square" lIns="0" tIns="0" rIns="0" bIns="0" rtlCol="0" anchor="ctr"/>
          <a:lstStyle/>
          <a:p>
            <a:pPr marL="0" indent="0" algn="ctr">
              <a:buNone/>
            </a:pPr>
            <a:r>
              <a:rPr lang="en-US" sz="1600" b="1" dirty="0">
                <a:solidFill>
                  <a:srgbClr val="34D399"/>
                </a:solidFill>
                <a:latin typeface="Arial" pitchFamily="34" charset="0"/>
                <a:ea typeface="Arial" pitchFamily="34" charset="-122"/>
                <a:cs typeface="Arial" pitchFamily="34" charset="-120"/>
              </a:rPr>
              <a:t>0.9025</a:t>
            </a:r>
            <a:endParaRPr lang="en-US" sz="1600" dirty="0"/>
          </a:p>
        </p:txBody>
      </p:sp>
      <p:sp>
        <p:nvSpPr>
          <p:cNvPr id="11" name="Shape 7"/>
          <p:cNvSpPr/>
          <p:nvPr/>
        </p:nvSpPr>
        <p:spPr>
          <a:xfrm>
            <a:off x="2712720" y="4160520"/>
            <a:ext cx="1981200"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2" name="Text 8"/>
          <p:cNvSpPr txBox="1"/>
          <p:nvPr/>
        </p:nvSpPr>
        <p:spPr>
          <a:xfrm>
            <a:off x="2712720" y="4242816"/>
            <a:ext cx="1981200"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sample sd across folds</a:t>
            </a:r>
            <a:endParaRPr lang="en-US" sz="950" dirty="0"/>
          </a:p>
        </p:txBody>
      </p:sp>
      <p:sp>
        <p:nvSpPr>
          <p:cNvPr id="13" name="Text 9"/>
          <p:cNvSpPr txBox="1"/>
          <p:nvPr/>
        </p:nvSpPr>
        <p:spPr>
          <a:xfrm>
            <a:off x="2712720" y="4443984"/>
            <a:ext cx="1981200" cy="384048"/>
          </a:xfrm>
          <a:prstGeom prst="rect">
            <a:avLst/>
          </a:prstGeom>
          <a:noFill/>
          <a:ln/>
        </p:spPr>
        <p:txBody>
          <a:bodyPr wrap="square" lIns="0" tIns="0" rIns="0" bIns="0" rtlCol="0" anchor="ctr"/>
          <a:lstStyle/>
          <a:p>
            <a:pPr marL="0" indent="0" algn="ctr">
              <a:buNone/>
            </a:pPr>
            <a:r>
              <a:rPr lang="en-US" sz="1600" b="1" dirty="0">
                <a:solidFill>
                  <a:srgbClr val="94A3B8"/>
                </a:solidFill>
                <a:latin typeface="Arial" pitchFamily="34" charset="0"/>
                <a:ea typeface="Arial" pitchFamily="34" charset="-122"/>
                <a:cs typeface="Arial" pitchFamily="34" charset="-120"/>
              </a:rPr>
              <a:t>± 0.0347</a:t>
            </a:r>
            <a:endParaRPr lang="en-US" sz="1600" dirty="0"/>
          </a:p>
        </p:txBody>
      </p:sp>
      <p:sp>
        <p:nvSpPr>
          <p:cNvPr id="4" name="Shape 10"/>
          <p:cNvSpPr/>
          <p:nvPr/>
        </p:nvSpPr>
        <p:spPr>
          <a:xfrm>
            <a:off x="4876800" y="4160520"/>
            <a:ext cx="1981200" cy="786384"/>
          </a:xfrm>
          <a:prstGeom prst="roundRect">
            <a:avLst>
              <a:gd name="adj" fmla="val 9302"/>
            </a:avLst>
          </a:prstGeom>
          <a:solidFill>
            <a:srgbClr val="1B2438"/>
          </a:solidFill>
          <a:ln w="9525">
            <a:solidFill>
              <a:srgbClr val="27324A"/>
            </a:solidFill>
            <a:prstDash val="solid"/>
          </a:ln>
        </p:spPr>
        <p:txBody>
          <a:bodyPr/>
          <a:lstStyle/>
          <a:p>
            <a:endParaRPr lang="en-US"/>
          </a:p>
        </p:txBody>
      </p:sp>
      <p:sp>
        <p:nvSpPr>
          <p:cNvPr id="15" name="Text 11"/>
          <p:cNvSpPr txBox="1"/>
          <p:nvPr/>
        </p:nvSpPr>
        <p:spPr>
          <a:xfrm>
            <a:off x="4876800" y="4242816"/>
            <a:ext cx="1981200" cy="201168"/>
          </a:xfrm>
          <a:prstGeom prst="rect">
            <a:avLst/>
          </a:prstGeom>
          <a:noFill/>
          <a:ln/>
        </p:spPr>
        <p:txBody>
          <a:bodyPr wrap="square" lIns="0" tIns="0" rIns="0" bIns="0" rtlCol="0" anchor="ctr"/>
          <a:lstStyle/>
          <a:p>
            <a:pPr marL="0" indent="0" algn="ctr">
              <a:buNone/>
            </a:pPr>
            <a:r>
              <a:rPr lang="en-US" sz="950" dirty="0">
                <a:solidFill>
                  <a:srgbClr val="94A3B8"/>
                </a:solidFill>
                <a:latin typeface="Arial" pitchFamily="34" charset="0"/>
                <a:ea typeface="Arial" pitchFamily="34" charset="-122"/>
                <a:cs typeface="Arial" pitchFamily="34" charset="-120"/>
              </a:rPr>
              <a:t>pooled out-of-fold F1</a:t>
            </a:r>
            <a:endParaRPr lang="en-US" sz="950" dirty="0"/>
          </a:p>
        </p:txBody>
      </p:sp>
      <p:sp>
        <p:nvSpPr>
          <p:cNvPr id="16" name="Text 12"/>
          <p:cNvSpPr txBox="1"/>
          <p:nvPr/>
        </p:nvSpPr>
        <p:spPr>
          <a:xfrm>
            <a:off x="4876800" y="4443984"/>
            <a:ext cx="1981200" cy="384048"/>
          </a:xfrm>
          <a:prstGeom prst="rect">
            <a:avLst/>
          </a:prstGeom>
          <a:noFill/>
          <a:ln/>
        </p:spPr>
        <p:txBody>
          <a:bodyPr wrap="square" lIns="0" tIns="0" rIns="0" bIns="0" rtlCol="0" anchor="ctr"/>
          <a:lstStyle/>
          <a:p>
            <a:pPr marL="0" indent="0" algn="ctr">
              <a:buNone/>
            </a:pPr>
            <a:r>
              <a:rPr lang="en-US" sz="1600" b="1" dirty="0">
                <a:solidFill>
                  <a:srgbClr val="22D3EE"/>
                </a:solidFill>
                <a:latin typeface="Arial" pitchFamily="34" charset="0"/>
                <a:ea typeface="Arial" pitchFamily="34" charset="-122"/>
                <a:cs typeface="Arial" pitchFamily="34" charset="-120"/>
              </a:rPr>
              <a:t>0.9006</a:t>
            </a:r>
            <a:endParaRPr lang="en-US" sz="1600" dirty="0"/>
          </a:p>
        </p:txBody>
      </p:sp>
      <p:sp>
        <p:nvSpPr>
          <p:cNvPr id="17" name="Text 13"/>
          <p:cNvSpPr txBox="1"/>
          <p:nvPr/>
        </p:nvSpPr>
        <p:spPr>
          <a:xfrm>
            <a:off x="548640" y="5120640"/>
            <a:ext cx="6309360" cy="640080"/>
          </a:xfrm>
          <a:prstGeom prst="rect">
            <a:avLst/>
          </a:prstGeom>
          <a:noFill/>
          <a:ln/>
        </p:spPr>
        <p:txBody>
          <a:bodyPr wrap="square" lIns="0" tIns="0" rIns="0" bIns="0" rtlCol="0" anchor="t"/>
          <a:lstStyle/>
          <a:p>
            <a:pPr marL="0" indent="0">
              <a:lnSpc>
                <a:spcPct val="122000"/>
              </a:lnSpc>
              <a:buNone/>
            </a:pPr>
            <a:r>
              <a:rPr lang="en-US" sz="1150" dirty="0">
                <a:solidFill>
                  <a:srgbClr val="F8FAFC"/>
                </a:solidFill>
                <a:latin typeface="Arial" pitchFamily="34" charset="0"/>
                <a:ea typeface="Arial" pitchFamily="34" charset="-122"/>
                <a:cs typeface="Arial" pitchFamily="34" charset="-120"/>
              </a:rPr>
              <a:t>Pooled over all 400 out-of-fold predictions: accuracy 0.9025, weighted precision 0.9098, weighted recall 0.9025.</a:t>
            </a:r>
            <a:endParaRPr lang="en-US" sz="1150" dirty="0"/>
          </a:p>
        </p:txBody>
      </p:sp>
      <p:sp>
        <p:nvSpPr>
          <p:cNvPr id="18" name="Shape 14"/>
          <p:cNvSpPr/>
          <p:nvPr/>
        </p:nvSpPr>
        <p:spPr>
          <a:xfrm>
            <a:off x="7178040" y="1417320"/>
            <a:ext cx="4465015" cy="4352544"/>
          </a:xfrm>
          <a:prstGeom prst="roundRect">
            <a:avLst>
              <a:gd name="adj" fmla="val 1891"/>
            </a:avLst>
          </a:prstGeom>
          <a:solidFill>
            <a:srgbClr val="141B2D"/>
          </a:solidFill>
          <a:ln w="9525">
            <a:solidFill>
              <a:srgbClr val="27324A"/>
            </a:solidFill>
            <a:prstDash val="solid"/>
          </a:ln>
        </p:spPr>
        <p:txBody>
          <a:bodyPr/>
          <a:lstStyle/>
          <a:p>
            <a:endParaRPr lang="en-US"/>
          </a:p>
        </p:txBody>
      </p:sp>
      <p:sp>
        <p:nvSpPr>
          <p:cNvPr id="19" name="Text 15"/>
          <p:cNvSpPr txBox="1"/>
          <p:nvPr/>
        </p:nvSpPr>
        <p:spPr>
          <a:xfrm>
            <a:off x="7452360" y="1645920"/>
            <a:ext cx="3657600" cy="219456"/>
          </a:xfrm>
          <a:prstGeom prst="rect">
            <a:avLst/>
          </a:prstGeom>
          <a:noFill/>
          <a:ln/>
        </p:spPr>
        <p:txBody>
          <a:bodyPr wrap="square" lIns="0" tIns="0" rIns="0" bIns="0" rtlCol="0" anchor="ctr"/>
          <a:lstStyle/>
          <a:p>
            <a:pPr marL="0" indent="0">
              <a:buNone/>
            </a:pPr>
            <a:r>
              <a:rPr lang="en-US" sz="1100" b="1" kern="0" spc="80" dirty="0">
                <a:solidFill>
                  <a:srgbClr val="22D3EE"/>
                </a:solidFill>
                <a:latin typeface="Arial" pitchFamily="34" charset="0"/>
                <a:ea typeface="Arial" pitchFamily="34" charset="-122"/>
                <a:cs typeface="Arial" pitchFamily="34" charset="-120"/>
              </a:rPr>
              <a:t>WHAT THE FOLDS SHOW</a:t>
            </a:r>
            <a:endParaRPr lang="en-US" sz="1100" dirty="0"/>
          </a:p>
        </p:txBody>
      </p:sp>
      <p:sp>
        <p:nvSpPr>
          <p:cNvPr id="20" name="Text 16"/>
          <p:cNvSpPr txBox="1"/>
          <p:nvPr/>
        </p:nvSpPr>
        <p:spPr>
          <a:xfrm>
            <a:off x="7452360" y="1975104"/>
            <a:ext cx="3916375" cy="365760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Every fold selects n_neighbors = 1. The voting size is the stable parameter.</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The selected k swings from 20 to 150 across folds — k is not stable, and any single recommended value carries real uncertainty.</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Validation accuracy is not a reliable predictor of test accuracy: fold 2 has the worst validation score and ties for the best test score.</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The five folds share training images, so the standard deviation describes spread, not a confidence interval.</a:t>
            </a:r>
            <a:endParaRPr lang="en-US" sz="1100" dirty="0"/>
          </a:p>
          <a:p>
            <a:pPr marL="342900" indent="-342900">
              <a:lnSpc>
                <a:spcPct val="105000"/>
              </a:lnSpc>
              <a:spcAft>
                <a:spcPts val="600"/>
              </a:spcAft>
              <a:buSzPct val="100000"/>
              <a:buChar char="•"/>
            </a:pPr>
            <a:r>
              <a:rPr lang="en-US" sz="1100" dirty="0">
                <a:solidFill>
                  <a:srgbClr val="F8FAFC"/>
                </a:solidFill>
                <a:latin typeface="Arial" pitchFamily="34" charset="0"/>
                <a:ea typeface="Arial" pitchFamily="34" charset="-122"/>
                <a:cs typeface="Arial" pitchFamily="34" charset="-120"/>
              </a:rPr>
              <a:t>Test scores were never used to retune anything.</a:t>
            </a:r>
            <a:endParaRPr lang="en-US" sz="1100" dirty="0"/>
          </a:p>
        </p:txBody>
      </p:sp>
      <p:sp>
        <p:nvSpPr>
          <p:cNvPr id="21" name="Text 17"/>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850" i="1" dirty="0">
                <a:solidFill>
                  <a:srgbClr val="94A3B8"/>
                </a:solidFill>
                <a:latin typeface="Arial" pitchFamily="34" charset="0"/>
                <a:ea typeface="Arial" pitchFamily="34" charset="-122"/>
                <a:cs typeface="Arial" pitchFamily="34" charset="-120"/>
              </a:rPr>
              <a:t>Symbols:  k = PCA components selected on validation inside the fold  ·  n_neighbors = neighbours voting in KNN  ·  sd = sample standard deviation over the five test scores.   Note: this cell was last executed under the earlier 60/20/20 configuration (240/80/80 per fold); re-run the notebook end to end to refresh these figures for the current 280/40/80 split.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14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ENGINEERING TRADE-OFF</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Computational Complexity in k</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4805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139135">
                  <a:extLst>
                    <a:ext uri="{9D8B030D-6E8A-4147-A177-3AD203B41FA5}">
                      <a16:colId xmlns:a16="http://schemas.microsoft.com/office/drawing/2014/main" val="20002"/>
                    </a:ext>
                  </a:extLst>
                </a:gridCol>
              </a:tblGrid>
              <a:tr h="502920">
                <a:tc>
                  <a:txBody>
                    <a:bodyPr/>
                    <a:lstStyle/>
                    <a:p>
                      <a:pPr marL="0" indent="0" algn="ctr">
                        <a:buNone/>
                      </a:pPr>
                      <a:r>
                        <a:rPr lang="en-US" sz="1200" b="1" dirty="0">
                          <a:solidFill>
                            <a:srgbClr val="22D3EE"/>
                          </a:solidFill>
                          <a:latin typeface="Arial" pitchFamily="34" charset="0"/>
                          <a:ea typeface="Arial" pitchFamily="34" charset="-122"/>
                          <a:cs typeface="Arial" pitchFamily="34" charset="-120"/>
                        </a:rPr>
                        <a:t>Stage</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tc>
                  <a:txBody>
                    <a:bodyPr/>
                    <a:lstStyle/>
                    <a:p>
                      <a:pPr marL="0" indent="0" algn="ctr">
                        <a:buNone/>
                      </a:pPr>
                      <a:r>
                        <a:rPr lang="en-US" sz="1200" b="1" dirty="0">
                          <a:solidFill>
                            <a:srgbClr val="22D3EE"/>
                          </a:solidFill>
                          <a:latin typeface="Arial" pitchFamily="34" charset="0"/>
                          <a:ea typeface="Arial" pitchFamily="34" charset="-122"/>
                          <a:cs typeface="Arial" pitchFamily="34" charset="-120"/>
                        </a:rPr>
                        <a:t>Time complexity</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tc>
                  <a:txBody>
                    <a:bodyPr/>
                    <a:lstStyle/>
                    <a:p>
                      <a:pPr marL="0" indent="0" algn="ctr">
                        <a:buNone/>
                      </a:pPr>
                      <a:r>
                        <a:rPr lang="en-US" sz="1200" b="1" dirty="0">
                          <a:solidFill>
                            <a:srgbClr val="22D3EE"/>
                          </a:solidFill>
                          <a:latin typeface="Arial" pitchFamily="34" charset="0"/>
                          <a:ea typeface="Arial" pitchFamily="34" charset="-122"/>
                          <a:cs typeface="Arial" pitchFamily="34" charset="-120"/>
                        </a:rPr>
                        <a:t>Effect of increasing k</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B2438"/>
                    </a:solidFill>
                  </a:tcPr>
                </a:tc>
                <a:extLst>
                  <a:ext uri="{0D108BD9-81ED-4DB2-BD59-A6C34878D82A}">
                    <a16:rowId xmlns:a16="http://schemas.microsoft.com/office/drawing/2014/main" val="10000"/>
                  </a:ext>
                </a:extLst>
              </a:tr>
              <a:tr h="502920">
                <a:tc>
                  <a:txBody>
                    <a:bodyPr/>
                    <a:lstStyle/>
                    <a:p>
                      <a:pPr marL="0" indent="0" algn="l">
                        <a:buNone/>
                      </a:pPr>
                      <a:r>
                        <a:rPr lang="en-US" sz="1200" dirty="0">
                          <a:solidFill>
                            <a:srgbClr val="F8FAFC"/>
                          </a:solidFill>
                          <a:latin typeface="Arial" pitchFamily="34" charset="0"/>
                          <a:ea typeface="Arial" pitchFamily="34" charset="-122"/>
                          <a:cs typeface="Arial" pitchFamily="34" charset="-120"/>
                        </a:rPr>
                        <a:t>Projection (train + query)</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22D3EE"/>
                          </a:solidFill>
                          <a:latin typeface="Courier New" pitchFamily="34" charset="0"/>
                          <a:ea typeface="Courier New" pitchFamily="34" charset="-122"/>
                          <a:cs typeface="Courier New" pitchFamily="34" charset="-120"/>
                        </a:rPr>
                        <a:t>O(n · d · k)</a:t>
                      </a:r>
                      <a:endParaRPr lang="en-US" sz="1200" dirty="0">
                        <a:latin typeface="Courier New" charset="0"/>
                        <a:ea typeface="Courier New" charset="0"/>
                        <a:cs typeface="Courier New"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F8FAFC"/>
                          </a:solidFill>
                          <a:latin typeface="Arial" pitchFamily="34" charset="0"/>
                          <a:ea typeface="Arial" pitchFamily="34" charset="-122"/>
                          <a:cs typeface="Arial" pitchFamily="34" charset="-120"/>
                        </a:rPr>
                        <a:t>Linear growth</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1"/>
                  </a:ext>
                </a:extLst>
              </a:tr>
              <a:tr h="502920">
                <a:tc>
                  <a:txBody>
                    <a:bodyPr/>
                    <a:lstStyle/>
                    <a:p>
                      <a:pPr marL="0" indent="0" algn="l">
                        <a:buNone/>
                      </a:pPr>
                      <a:r>
                        <a:rPr lang="en-US" sz="1200" dirty="0">
                          <a:solidFill>
                            <a:srgbClr val="F8FAFC"/>
                          </a:solidFill>
                          <a:latin typeface="Arial" pitchFamily="34" charset="0"/>
                          <a:ea typeface="Arial" pitchFamily="34" charset="-122"/>
                          <a:cs typeface="Arial" pitchFamily="34" charset="-120"/>
                        </a:rPr>
                        <a:t>Reconstruction</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22D3EE"/>
                          </a:solidFill>
                          <a:latin typeface="Courier New" pitchFamily="34" charset="0"/>
                          <a:ea typeface="Courier New" pitchFamily="34" charset="-122"/>
                          <a:cs typeface="Courier New" pitchFamily="34" charset="-120"/>
                        </a:rPr>
                        <a:t>O(n · d · k)</a:t>
                      </a:r>
                      <a:endParaRPr lang="en-US" sz="1200" dirty="0">
                        <a:latin typeface="Courier New" charset="0"/>
                        <a:ea typeface="Courier New" charset="0"/>
                        <a:cs typeface="Courier New"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F8FAFC"/>
                          </a:solidFill>
                          <a:latin typeface="Arial" pitchFamily="34" charset="0"/>
                          <a:ea typeface="Arial" pitchFamily="34" charset="-122"/>
                          <a:cs typeface="Arial" pitchFamily="34" charset="-120"/>
                        </a:rPr>
                        <a:t>Linear growth</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2"/>
                  </a:ext>
                </a:extLst>
              </a:tr>
              <a:tr h="502920">
                <a:tc>
                  <a:txBody>
                    <a:bodyPr/>
                    <a:lstStyle/>
                    <a:p>
                      <a:pPr marL="0" indent="0" algn="l">
                        <a:buNone/>
                      </a:pPr>
                      <a:r>
                        <a:rPr lang="en-US" sz="1200" dirty="0">
                          <a:solidFill>
                            <a:srgbClr val="F8FAFC"/>
                          </a:solidFill>
                          <a:latin typeface="Arial" pitchFamily="34" charset="0"/>
                          <a:ea typeface="Arial" pitchFamily="34" charset="-122"/>
                          <a:cs typeface="Arial" pitchFamily="34" charset="-120"/>
                        </a:rPr>
                        <a:t>KNN distance per query</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22D3EE"/>
                          </a:solidFill>
                          <a:latin typeface="Courier New" pitchFamily="34" charset="0"/>
                          <a:ea typeface="Courier New" pitchFamily="34" charset="-122"/>
                          <a:cs typeface="Courier New" pitchFamily="34" charset="-120"/>
                        </a:rPr>
                        <a:t>O(n_train · k)</a:t>
                      </a:r>
                      <a:endParaRPr lang="en-US" sz="1200" dirty="0">
                        <a:latin typeface="Courier New" charset="0"/>
                        <a:ea typeface="Courier New" charset="0"/>
                        <a:cs typeface="Courier New"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F8FAFC"/>
                          </a:solidFill>
                          <a:latin typeface="Arial" pitchFamily="34" charset="0"/>
                          <a:ea typeface="Arial" pitchFamily="34" charset="-122"/>
                          <a:cs typeface="Arial" pitchFamily="34" charset="-120"/>
                        </a:rPr>
                        <a:t>Slower search</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3"/>
                  </a:ext>
                </a:extLst>
              </a:tr>
              <a:tr h="502920">
                <a:tc>
                  <a:txBody>
                    <a:bodyPr/>
                    <a:lstStyle/>
                    <a:p>
                      <a:pPr marL="0" indent="0" algn="l">
                        <a:buNone/>
                      </a:pPr>
                      <a:r>
                        <a:rPr lang="en-US" sz="1200" dirty="0">
                          <a:solidFill>
                            <a:srgbClr val="F8FAFC"/>
                          </a:solidFill>
                          <a:latin typeface="Arial" pitchFamily="34" charset="0"/>
                          <a:ea typeface="Arial" pitchFamily="34" charset="-122"/>
                          <a:cs typeface="Arial" pitchFamily="34" charset="-120"/>
                        </a:rPr>
                        <a:t>Stored codes (memory)</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22D3EE"/>
                          </a:solidFill>
                          <a:latin typeface="Courier New" pitchFamily="34" charset="0"/>
                          <a:ea typeface="Courier New" pitchFamily="34" charset="-122"/>
                          <a:cs typeface="Courier New" pitchFamily="34" charset="-120"/>
                        </a:rPr>
                        <a:t>O(n · k)</a:t>
                      </a:r>
                      <a:endParaRPr lang="en-US" sz="1200" dirty="0">
                        <a:latin typeface="Courier New" charset="0"/>
                        <a:ea typeface="Courier New" charset="0"/>
                        <a:cs typeface="Courier New"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F8FAFC"/>
                          </a:solidFill>
                          <a:latin typeface="Arial" pitchFamily="34" charset="0"/>
                          <a:ea typeface="Arial" pitchFamily="34" charset="-122"/>
                          <a:cs typeface="Arial" pitchFamily="34" charset="-120"/>
                        </a:rPr>
                        <a:t>More memory</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4"/>
                  </a:ext>
                </a:extLst>
              </a:tr>
              <a:tr h="502920">
                <a:tc>
                  <a:txBody>
                    <a:bodyPr/>
                    <a:lstStyle/>
                    <a:p>
                      <a:pPr marL="0" indent="0" algn="l">
                        <a:buNone/>
                      </a:pPr>
                      <a:r>
                        <a:rPr lang="en-US" sz="1200" dirty="0">
                          <a:solidFill>
                            <a:srgbClr val="F8FAFC"/>
                          </a:solidFill>
                          <a:latin typeface="Arial" pitchFamily="34" charset="0"/>
                          <a:ea typeface="Arial" pitchFamily="34" charset="-122"/>
                          <a:cs typeface="Arial" pitchFamily="34" charset="-120"/>
                        </a:rPr>
                        <a:t>Eigendecomposition</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22D3EE"/>
                          </a:solidFill>
                          <a:latin typeface="Courier New" pitchFamily="34" charset="0"/>
                          <a:ea typeface="Courier New" pitchFamily="34" charset="-122"/>
                          <a:cs typeface="Courier New" pitchFamily="34" charset="-120"/>
                        </a:rPr>
                        <a:t>O(d³), once per fold</a:t>
                      </a:r>
                      <a:endParaRPr lang="en-US" sz="1200" dirty="0">
                        <a:latin typeface="Courier New" charset="0"/>
                        <a:ea typeface="Courier New" charset="0"/>
                        <a:cs typeface="Courier New"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tc>
                  <a:txBody>
                    <a:bodyPr/>
                    <a:lstStyle/>
                    <a:p>
                      <a:pPr marL="0" indent="0" algn="ctr">
                        <a:buNone/>
                      </a:pPr>
                      <a:r>
                        <a:rPr lang="en-US" sz="1200" dirty="0">
                          <a:solidFill>
                            <a:srgbClr val="F8FAFC"/>
                          </a:solidFill>
                          <a:latin typeface="Arial" pitchFamily="34" charset="0"/>
                          <a:ea typeface="Arial" pitchFamily="34" charset="-122"/>
                          <a:cs typeface="Arial" pitchFamily="34" charset="-120"/>
                        </a:rPr>
                        <a:t>Independent of k</a:t>
                      </a:r>
                      <a:endParaRPr lang="en-US" sz="1200" dirty="0">
                        <a:latin typeface="Arial" charset="0"/>
                        <a:ea typeface="Arial" charset="0"/>
                        <a:cs typeface="Arial" charset="0"/>
                      </a:endParaRPr>
                    </a:p>
                  </a:txBody>
                  <a:tcPr anchor="ctr">
                    <a:lnL w="9525" cap="flat" cmpd="sng" algn="ctr">
                      <a:solidFill>
                        <a:srgbClr val="27324A"/>
                      </a:solidFill>
                      <a:prstDash val="solid"/>
                      <a:round/>
                      <a:headEnd type="none" w="med" len="med"/>
                      <a:tailEnd type="none" w="med" len="med"/>
                    </a:lnL>
                    <a:lnR w="9525" cap="flat" cmpd="sng" algn="ctr">
                      <a:solidFill>
                        <a:srgbClr val="27324A"/>
                      </a:solidFill>
                      <a:prstDash val="solid"/>
                      <a:round/>
                      <a:headEnd type="none" w="med" len="med"/>
                      <a:tailEnd type="none" w="med" len="med"/>
                    </a:lnR>
                    <a:lnT w="9525" cap="flat" cmpd="sng" algn="ctr">
                      <a:solidFill>
                        <a:srgbClr val="27324A"/>
                      </a:solidFill>
                      <a:prstDash val="solid"/>
                      <a:round/>
                      <a:headEnd type="none" w="med" len="med"/>
                      <a:tailEnd type="none" w="med" len="med"/>
                    </a:lnT>
                    <a:lnB w="9525" cap="flat" cmpd="sng" algn="ctr">
                      <a:solidFill>
                        <a:srgbClr val="27324A"/>
                      </a:solidFill>
                      <a:prstDash val="solid"/>
                      <a:round/>
                      <a:headEnd type="none" w="med" len="med"/>
                      <a:tailEnd type="none" w="med" len="med"/>
                    </a:lnB>
                    <a:solidFill>
                      <a:srgbClr val="141B2D"/>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4709160"/>
            <a:ext cx="11094415" cy="1005840"/>
          </a:xfrm>
          <a:prstGeom prst="roundRect">
            <a:avLst>
              <a:gd name="adj" fmla="val 8182"/>
            </a:avLst>
          </a:prstGeom>
          <a:solidFill>
            <a:srgbClr val="141B2D"/>
          </a:solidFill>
          <a:ln w="9525">
            <a:solidFill>
              <a:srgbClr val="27324A"/>
            </a:solidFill>
            <a:prstDash val="solid"/>
          </a:ln>
        </p:spPr>
        <p:txBody>
          <a:bodyPr/>
          <a:lstStyle/>
          <a:p>
            <a:endParaRPr lang="en-US"/>
          </a:p>
        </p:txBody>
      </p:sp>
      <p:sp>
        <p:nvSpPr>
          <p:cNvPr id="9" name="Text 5"/>
          <p:cNvSpPr txBox="1"/>
          <p:nvPr/>
        </p:nvSpPr>
        <p:spPr>
          <a:xfrm>
            <a:off x="841248" y="4882896"/>
            <a:ext cx="10509199" cy="731520"/>
          </a:xfrm>
          <a:prstGeom prst="rect">
            <a:avLst/>
          </a:prstGeom>
          <a:noFill/>
          <a:ln/>
        </p:spPr>
        <p:txBody>
          <a:bodyPr wrap="square" lIns="0" tIns="0" rIns="0" bIns="0" rtlCol="0" anchor="t"/>
          <a:lstStyle/>
          <a:p>
            <a:pPr marL="0" indent="0">
              <a:lnSpc>
                <a:spcPct val="122000"/>
              </a:lnSpc>
              <a:buNone/>
            </a:pPr>
            <a:r>
              <a:rPr lang="en-US" sz="1150" dirty="0">
                <a:solidFill>
                  <a:srgbClr val="F8FAFC"/>
                </a:solidFill>
                <a:latin typeface="Arial" pitchFamily="34" charset="0"/>
                <a:ea typeface="Arial" pitchFamily="34" charset="-122"/>
                <a:cs typeface="Arial" pitchFamily="34" charset="-120"/>
              </a:rPr>
              <a:t>The eigendecomposition of the 4096 × 4096 covariance matrix does not depend on k, but under five-fold cross-validation it is now performed five times instead of once. The cost of using the model — projecting a query and searching the training codes — grows linearly in k, with n_train = 280 per fold. Choosing k is therefore a trade-off between reconstruction quality and compute and memory cost.</a:t>
            </a:r>
            <a:endParaRPr lang="en-US" sz="1150" dirty="0"/>
          </a:p>
        </p:txBody>
      </p:sp>
      <p:sp>
        <p:nvSpPr>
          <p:cNvPr id="10" name="Text 6"/>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n = number of images processed at that stage  ·  n_train = training images available in one fold (280)  ·  d = 4096 pixels per image  ·  k = number of principal components retained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6455664"/>
            <a:ext cx="4572000" cy="256032"/>
          </a:xfrm>
          <a:prstGeom prst="rect">
            <a:avLst/>
          </a:prstGeom>
          <a:noFill/>
          <a:ln/>
        </p:spPr>
        <p:txBody>
          <a:bodyPr wrap="square" lIns="0" tIns="0" rIns="0" bIns="0" rtlCol="0" anchor="ctr"/>
          <a:lstStyle/>
          <a:p>
            <a:pPr marL="0" indent="0">
              <a:buNone/>
            </a:pPr>
            <a:r>
              <a:rPr lang="en-US" sz="900" kern="0" spc="140" dirty="0">
                <a:solidFill>
                  <a:srgbClr val="94A3B8"/>
                </a:solidFill>
                <a:latin typeface="Arial" pitchFamily="34" charset="0"/>
                <a:ea typeface="Arial" pitchFamily="34" charset="-122"/>
                <a:cs typeface="Arial" pitchFamily="34" charset="-120"/>
              </a:rPr>
              <a:t>EIGENFACES  ·  TEAM 01</a:t>
            </a:r>
            <a:endParaRPr lang="en-US" sz="900" dirty="0"/>
          </a:p>
        </p:txBody>
      </p:sp>
      <p:sp>
        <p:nvSpPr>
          <p:cNvPr id="3" name="Text 1"/>
          <p:cNvSpPr txBox="1"/>
          <p:nvPr/>
        </p:nvSpPr>
        <p:spPr>
          <a:xfrm>
            <a:off x="8899855" y="6455664"/>
            <a:ext cx="2743200" cy="256032"/>
          </a:xfrm>
          <a:prstGeom prst="rect">
            <a:avLst/>
          </a:prstGeom>
          <a:noFill/>
          <a:ln/>
        </p:spPr>
        <p:txBody>
          <a:bodyPr wrap="square" lIns="0" tIns="0" rIns="0" bIns="0" rtlCol="0" anchor="ctr"/>
          <a:lstStyle/>
          <a:p>
            <a:pPr marL="0" indent="0" algn="r">
              <a:buNone/>
            </a:pPr>
            <a:r>
              <a:rPr lang="en-US" sz="900" dirty="0">
                <a:solidFill>
                  <a:srgbClr val="94A3B8"/>
                </a:solidFill>
                <a:latin typeface="Arial" pitchFamily="34" charset="0"/>
                <a:ea typeface="Arial" pitchFamily="34" charset="-122"/>
                <a:cs typeface="Arial" pitchFamily="34" charset="-120"/>
              </a:rPr>
              <a:t>15 / 15</a:t>
            </a:r>
            <a:endParaRPr lang="en-US" sz="900" dirty="0"/>
          </a:p>
        </p:txBody>
      </p:sp>
      <p:sp>
        <p:nvSpPr>
          <p:cNvPr id="5" name="Text 2"/>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100" b="1" kern="0" spc="220" dirty="0">
                <a:solidFill>
                  <a:srgbClr val="22D3EE"/>
                </a:solidFill>
                <a:latin typeface="Arial" pitchFamily="34" charset="0"/>
                <a:ea typeface="Arial" pitchFamily="34" charset="-122"/>
                <a:cs typeface="Arial" pitchFamily="34" charset="-120"/>
              </a:rPr>
              <a:t>CONCLUSION</a:t>
            </a:r>
            <a:endParaRPr lang="en-US" sz="1100" dirty="0"/>
          </a:p>
        </p:txBody>
      </p:sp>
      <p:sp>
        <p:nvSpPr>
          <p:cNvPr id="6" name="Text 3"/>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2800" b="1" dirty="0">
                <a:solidFill>
                  <a:srgbClr val="F8FAFC"/>
                </a:solidFill>
                <a:latin typeface="Arial" pitchFamily="34" charset="0"/>
                <a:ea typeface="Arial" pitchFamily="34" charset="-122"/>
                <a:cs typeface="Arial" pitchFamily="34" charset="-120"/>
              </a:rPr>
              <a:t>Choosing k — Three Criteria, One Recommendation</a:t>
            </a:r>
            <a:endParaRPr lang="en-US" sz="2800" dirty="0"/>
          </a:p>
        </p:txBody>
      </p:sp>
      <p:sp>
        <p:nvSpPr>
          <p:cNvPr id="7" name="Shape 4"/>
          <p:cNvSpPr/>
          <p:nvPr/>
        </p:nvSpPr>
        <p:spPr>
          <a:xfrm>
            <a:off x="548640" y="1417320"/>
            <a:ext cx="3527450" cy="2286000"/>
          </a:xfrm>
          <a:prstGeom prst="roundRect">
            <a:avLst>
              <a:gd name="adj" fmla="val 3200"/>
            </a:avLst>
          </a:prstGeom>
          <a:solidFill>
            <a:srgbClr val="0E7490"/>
          </a:solidFill>
          <a:ln w="9525">
            <a:solidFill>
              <a:srgbClr val="22D3EE"/>
            </a:solidFill>
            <a:prstDash val="solid"/>
          </a:ln>
        </p:spPr>
        <p:txBody>
          <a:bodyPr/>
          <a:lstStyle/>
          <a:p>
            <a:endParaRPr lang="en-US"/>
          </a:p>
        </p:txBody>
      </p:sp>
      <p:sp>
        <p:nvSpPr>
          <p:cNvPr id="8" name="Text 5"/>
          <p:cNvSpPr txBox="1"/>
          <p:nvPr/>
        </p:nvSpPr>
        <p:spPr>
          <a:xfrm>
            <a:off x="804672" y="1600200"/>
            <a:ext cx="3015386"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Elbow Method</a:t>
            </a:r>
            <a:endParaRPr lang="en-US" sz="1500" dirty="0"/>
          </a:p>
        </p:txBody>
      </p:sp>
      <p:sp>
        <p:nvSpPr>
          <p:cNvPr id="9" name="Text 6"/>
          <p:cNvSpPr txBox="1"/>
          <p:nvPr/>
        </p:nvSpPr>
        <p:spPr>
          <a:xfrm>
            <a:off x="804672" y="1892808"/>
            <a:ext cx="3015386" cy="256032"/>
          </a:xfrm>
          <a:prstGeom prst="rect">
            <a:avLst/>
          </a:prstGeom>
          <a:noFill/>
          <a:ln/>
        </p:spPr>
        <p:txBody>
          <a:bodyPr wrap="square" lIns="0" tIns="0" rIns="0" bIns="0" rtlCol="0" anchor="ctr"/>
          <a:lstStyle/>
          <a:p>
            <a:pPr marL="0" indent="0">
              <a:buNone/>
            </a:pPr>
            <a:r>
              <a:rPr lang="en-US" sz="1050" dirty="0">
                <a:solidFill>
                  <a:srgbClr val="E0F7FA"/>
                </a:solidFill>
                <a:latin typeface="Arial" pitchFamily="34" charset="0"/>
                <a:ea typeface="Arial" pitchFamily="34" charset="-122"/>
                <a:cs typeface="Arial" pitchFamily="34" charset="-120"/>
              </a:rPr>
              <a:t>Reconstruction-based (MSE)</a:t>
            </a:r>
            <a:endParaRPr lang="en-US" sz="1050" dirty="0"/>
          </a:p>
        </p:txBody>
      </p:sp>
      <p:sp>
        <p:nvSpPr>
          <p:cNvPr id="10" name="Text 7"/>
          <p:cNvSpPr txBox="1"/>
          <p:nvPr/>
        </p:nvSpPr>
        <p:spPr>
          <a:xfrm>
            <a:off x="804672" y="2194560"/>
            <a:ext cx="3015386" cy="56692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k = 50</a:t>
            </a:r>
            <a:endParaRPr lang="en-US" sz="2800" dirty="0"/>
          </a:p>
        </p:txBody>
      </p:sp>
      <p:sp>
        <p:nvSpPr>
          <p:cNvPr id="11" name="Text 8"/>
          <p:cNvSpPr txBox="1"/>
          <p:nvPr/>
        </p:nvSpPr>
        <p:spPr>
          <a:xfrm>
            <a:off x="804672" y="2798064"/>
            <a:ext cx="3015386" cy="777240"/>
          </a:xfrm>
          <a:prstGeom prst="rect">
            <a:avLst/>
          </a:prstGeom>
          <a:noFill/>
          <a:ln/>
        </p:spPr>
        <p:txBody>
          <a:bodyPr wrap="square" lIns="0" tIns="0" rIns="0" bIns="0" rtlCol="0" anchor="ctr"/>
          <a:lstStyle/>
          <a:p>
            <a:pPr marL="0" indent="0">
              <a:lnSpc>
                <a:spcPct val="112000"/>
              </a:lnSpc>
              <a:buNone/>
            </a:pPr>
            <a:r>
              <a:rPr lang="en-US" sz="1050" dirty="0">
                <a:solidFill>
                  <a:srgbClr val="F3EEFF"/>
                </a:solidFill>
                <a:latin typeface="Arial" pitchFamily="34" charset="0"/>
                <a:ea typeface="Arial" pitchFamily="34" charset="-122"/>
                <a:cs typeface="Arial" pitchFamily="34" charset="-120"/>
              </a:rPr>
              <a:t>Best balance between code size and pixel-level reconstruction quality.</a:t>
            </a:r>
            <a:endParaRPr lang="en-US" sz="1050" dirty="0"/>
          </a:p>
        </p:txBody>
      </p:sp>
      <p:sp>
        <p:nvSpPr>
          <p:cNvPr id="12" name="Shape 9"/>
          <p:cNvSpPr/>
          <p:nvPr/>
        </p:nvSpPr>
        <p:spPr>
          <a:xfrm>
            <a:off x="4332122" y="1417320"/>
            <a:ext cx="3527450" cy="2286000"/>
          </a:xfrm>
          <a:prstGeom prst="roundRect">
            <a:avLst>
              <a:gd name="adj" fmla="val 3200"/>
            </a:avLst>
          </a:prstGeom>
          <a:solidFill>
            <a:srgbClr val="5B21B6"/>
          </a:solidFill>
          <a:ln w="9525">
            <a:solidFill>
              <a:srgbClr val="8B5CF6"/>
            </a:solidFill>
            <a:prstDash val="solid"/>
          </a:ln>
        </p:spPr>
        <p:txBody>
          <a:bodyPr/>
          <a:lstStyle/>
          <a:p>
            <a:endParaRPr lang="en-US"/>
          </a:p>
        </p:txBody>
      </p:sp>
      <p:sp>
        <p:nvSpPr>
          <p:cNvPr id="13" name="Text 10"/>
          <p:cNvSpPr txBox="1"/>
          <p:nvPr/>
        </p:nvSpPr>
        <p:spPr>
          <a:xfrm>
            <a:off x="4588154" y="1600200"/>
            <a:ext cx="3015386"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Silhouette Score</a:t>
            </a:r>
            <a:endParaRPr lang="en-US" sz="1500" dirty="0"/>
          </a:p>
        </p:txBody>
      </p:sp>
      <p:sp>
        <p:nvSpPr>
          <p:cNvPr id="14" name="Text 11"/>
          <p:cNvSpPr txBox="1"/>
          <p:nvPr/>
        </p:nvSpPr>
        <p:spPr>
          <a:xfrm>
            <a:off x="4588154" y="1892808"/>
            <a:ext cx="3015386" cy="256032"/>
          </a:xfrm>
          <a:prstGeom prst="rect">
            <a:avLst/>
          </a:prstGeom>
          <a:noFill/>
          <a:ln/>
        </p:spPr>
        <p:txBody>
          <a:bodyPr wrap="square" lIns="0" tIns="0" rIns="0" bIns="0" rtlCol="0" anchor="ctr"/>
          <a:lstStyle/>
          <a:p>
            <a:pPr marL="0" indent="0">
              <a:buNone/>
            </a:pPr>
            <a:r>
              <a:rPr lang="en-US" sz="1050" dirty="0">
                <a:solidFill>
                  <a:srgbClr val="E0F7FA"/>
                </a:solidFill>
                <a:latin typeface="Arial" pitchFamily="34" charset="0"/>
                <a:ea typeface="Arial" pitchFamily="34" charset="-122"/>
                <a:cs typeface="Arial" pitchFamily="34" charset="-120"/>
              </a:rPr>
              <a:t>Identity-separation based</a:t>
            </a:r>
            <a:endParaRPr lang="en-US" sz="1050" dirty="0"/>
          </a:p>
        </p:txBody>
      </p:sp>
      <p:sp>
        <p:nvSpPr>
          <p:cNvPr id="15" name="Text 12"/>
          <p:cNvSpPr txBox="1"/>
          <p:nvPr/>
        </p:nvSpPr>
        <p:spPr>
          <a:xfrm>
            <a:off x="4588154" y="2194560"/>
            <a:ext cx="3015386" cy="56692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k = 20</a:t>
            </a:r>
            <a:endParaRPr lang="en-US" sz="2800" dirty="0"/>
          </a:p>
        </p:txBody>
      </p:sp>
      <p:sp>
        <p:nvSpPr>
          <p:cNvPr id="16" name="Text 13"/>
          <p:cNvSpPr txBox="1"/>
          <p:nvPr/>
        </p:nvSpPr>
        <p:spPr>
          <a:xfrm>
            <a:off x="4588154" y="2798064"/>
            <a:ext cx="3015386" cy="777240"/>
          </a:xfrm>
          <a:prstGeom prst="rect">
            <a:avLst/>
          </a:prstGeom>
          <a:noFill/>
          <a:ln/>
        </p:spPr>
        <p:txBody>
          <a:bodyPr wrap="square" lIns="0" tIns="0" rIns="0" bIns="0" rtlCol="0" anchor="ctr"/>
          <a:lstStyle/>
          <a:p>
            <a:pPr marL="0" indent="0">
              <a:lnSpc>
                <a:spcPct val="112000"/>
              </a:lnSpc>
              <a:buNone/>
            </a:pPr>
            <a:r>
              <a:rPr lang="en-US" sz="1050" dirty="0">
                <a:solidFill>
                  <a:srgbClr val="F3EEFF"/>
                </a:solidFill>
                <a:latin typeface="Arial" pitchFamily="34" charset="0"/>
                <a:ea typeface="Arial" pitchFamily="34" charset="-122"/>
                <a:cs typeface="Arial" pitchFamily="34" charset="-120"/>
              </a:rPr>
              <a:t>The leading directions already separate identities; later ones add pixel detail, not separability.</a:t>
            </a:r>
            <a:endParaRPr lang="en-US" sz="1050" dirty="0"/>
          </a:p>
        </p:txBody>
      </p:sp>
      <p:sp>
        <p:nvSpPr>
          <p:cNvPr id="17" name="Shape 14"/>
          <p:cNvSpPr/>
          <p:nvPr/>
        </p:nvSpPr>
        <p:spPr>
          <a:xfrm>
            <a:off x="8115605" y="1417320"/>
            <a:ext cx="3527450" cy="2286000"/>
          </a:xfrm>
          <a:prstGeom prst="roundRect">
            <a:avLst>
              <a:gd name="adj" fmla="val 3200"/>
            </a:avLst>
          </a:prstGeom>
          <a:solidFill>
            <a:srgbClr val="065F46"/>
          </a:solidFill>
          <a:ln w="9525">
            <a:solidFill>
              <a:srgbClr val="34D399"/>
            </a:solidFill>
            <a:prstDash val="solid"/>
          </a:ln>
        </p:spPr>
        <p:txBody>
          <a:bodyPr/>
          <a:lstStyle/>
          <a:p>
            <a:endParaRPr lang="en-US"/>
          </a:p>
        </p:txBody>
      </p:sp>
      <p:sp>
        <p:nvSpPr>
          <p:cNvPr id="18" name="Text 15"/>
          <p:cNvSpPr txBox="1"/>
          <p:nvPr/>
        </p:nvSpPr>
        <p:spPr>
          <a:xfrm>
            <a:off x="8371637" y="1600200"/>
            <a:ext cx="3015386"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Cross-Validation</a:t>
            </a:r>
            <a:endParaRPr lang="en-US" sz="1500" dirty="0"/>
          </a:p>
        </p:txBody>
      </p:sp>
      <p:sp>
        <p:nvSpPr>
          <p:cNvPr id="19" name="Text 16"/>
          <p:cNvSpPr txBox="1"/>
          <p:nvPr/>
        </p:nvSpPr>
        <p:spPr>
          <a:xfrm>
            <a:off x="8371637" y="1892808"/>
            <a:ext cx="3015386" cy="256032"/>
          </a:xfrm>
          <a:prstGeom prst="rect">
            <a:avLst/>
          </a:prstGeom>
          <a:noFill/>
          <a:ln/>
        </p:spPr>
        <p:txBody>
          <a:bodyPr wrap="square" lIns="0" tIns="0" rIns="0" bIns="0" rtlCol="0" anchor="ctr"/>
          <a:lstStyle/>
          <a:p>
            <a:pPr marL="0" indent="0">
              <a:buNone/>
            </a:pPr>
            <a:r>
              <a:rPr lang="en-US" sz="1050" dirty="0">
                <a:solidFill>
                  <a:srgbClr val="E0F7FA"/>
                </a:solidFill>
                <a:latin typeface="Arial" pitchFamily="34" charset="0"/>
                <a:ea typeface="Arial" pitchFamily="34" charset="-122"/>
                <a:cs typeface="Arial" pitchFamily="34" charset="-120"/>
              </a:rPr>
              <a:t>Validation accuracy per fold</a:t>
            </a:r>
            <a:endParaRPr lang="en-US" sz="1050" dirty="0"/>
          </a:p>
        </p:txBody>
      </p:sp>
      <p:sp>
        <p:nvSpPr>
          <p:cNvPr id="20" name="Text 17"/>
          <p:cNvSpPr txBox="1"/>
          <p:nvPr/>
        </p:nvSpPr>
        <p:spPr>
          <a:xfrm>
            <a:off x="8371637" y="2194560"/>
            <a:ext cx="3015386" cy="56692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k = 20 – 150</a:t>
            </a:r>
            <a:endParaRPr lang="en-US" sz="2800" dirty="0"/>
          </a:p>
        </p:txBody>
      </p:sp>
      <p:sp>
        <p:nvSpPr>
          <p:cNvPr id="21" name="Text 18"/>
          <p:cNvSpPr txBox="1"/>
          <p:nvPr/>
        </p:nvSpPr>
        <p:spPr>
          <a:xfrm>
            <a:off x="8371637" y="2798064"/>
            <a:ext cx="3015386" cy="777240"/>
          </a:xfrm>
          <a:prstGeom prst="rect">
            <a:avLst/>
          </a:prstGeom>
          <a:noFill/>
          <a:ln/>
        </p:spPr>
        <p:txBody>
          <a:bodyPr wrap="square" lIns="0" tIns="0" rIns="0" bIns="0" rtlCol="0" anchor="ctr"/>
          <a:lstStyle/>
          <a:p>
            <a:pPr marL="0" indent="0">
              <a:lnSpc>
                <a:spcPct val="112000"/>
              </a:lnSpc>
              <a:buNone/>
            </a:pPr>
            <a:r>
              <a:rPr lang="en-US" sz="1050" dirty="0">
                <a:solidFill>
                  <a:srgbClr val="F3EEFF"/>
                </a:solidFill>
                <a:latin typeface="Arial" pitchFamily="34" charset="0"/>
                <a:ea typeface="Arial" pitchFamily="34" charset="-122"/>
                <a:cs typeface="Arial" pitchFamily="34" charset="-120"/>
              </a:rPr>
              <a:t>Selected k is unstable across folds; every fold agrees only on n_neighbors = 1.</a:t>
            </a:r>
            <a:endParaRPr lang="en-US" sz="1050" dirty="0"/>
          </a:p>
        </p:txBody>
      </p:sp>
      <p:sp>
        <p:nvSpPr>
          <p:cNvPr id="22" name="Shape 19"/>
          <p:cNvSpPr/>
          <p:nvPr/>
        </p:nvSpPr>
        <p:spPr>
          <a:xfrm>
            <a:off x="548640" y="3886200"/>
            <a:ext cx="11094415" cy="914400"/>
          </a:xfrm>
          <a:prstGeom prst="roundRect">
            <a:avLst>
              <a:gd name="adj" fmla="val 9000"/>
            </a:avLst>
          </a:prstGeom>
          <a:solidFill>
            <a:srgbClr val="141B2D"/>
          </a:solidFill>
          <a:ln w="9525">
            <a:solidFill>
              <a:srgbClr val="27324A"/>
            </a:solidFill>
            <a:prstDash val="solid"/>
          </a:ln>
        </p:spPr>
        <p:txBody>
          <a:bodyPr/>
          <a:lstStyle/>
          <a:p>
            <a:endParaRPr lang="en-US"/>
          </a:p>
        </p:txBody>
      </p:sp>
      <p:sp>
        <p:nvSpPr>
          <p:cNvPr id="23" name="Text 20"/>
          <p:cNvSpPr txBox="1"/>
          <p:nvPr/>
        </p:nvSpPr>
        <p:spPr>
          <a:xfrm>
            <a:off x="841248" y="4069080"/>
            <a:ext cx="10509199" cy="566928"/>
          </a:xfrm>
          <a:prstGeom prst="rect">
            <a:avLst/>
          </a:prstGeom>
          <a:noFill/>
          <a:ln/>
        </p:spPr>
        <p:txBody>
          <a:bodyPr wrap="square" lIns="0" tIns="0" rIns="0" bIns="0" rtlCol="0" anchor="ctr"/>
          <a:lstStyle/>
          <a:p>
            <a:pPr marL="0" indent="0">
              <a:lnSpc>
                <a:spcPct val="115000"/>
              </a:lnSpc>
              <a:buNone/>
            </a:pPr>
            <a:r>
              <a:rPr lang="en-US" sz="1250" b="1" dirty="0">
                <a:solidFill>
                  <a:srgbClr val="22D3EE"/>
                </a:solidFill>
                <a:latin typeface="Arial" pitchFamily="34" charset="0"/>
                <a:ea typeface="Arial" pitchFamily="34" charset="-122"/>
                <a:cs typeface="Arial" pitchFamily="34" charset="-120"/>
              </a:rPr>
              <a:t>Recommended range:  k ∈ [20, 50].  </a:t>
            </a:r>
            <a:r>
              <a:rPr lang="en-US" sz="1250" dirty="0">
                <a:solidFill>
                  <a:srgbClr val="F8FAFC"/>
                </a:solidFill>
                <a:latin typeface="Arial" pitchFamily="34" charset="0"/>
                <a:ea typeface="Arial" pitchFamily="34" charset="-122"/>
                <a:cs typeface="Arial" pitchFamily="34" charset="-120"/>
              </a:rPr>
              <a:t>This is where the elbow, the silhouette peak and the saturation point of 1-NN validation accuracy meet. Going to k = 200 or 250 raises projection, search and memory cost without a measurable gain in recognition.</a:t>
            </a:r>
            <a:endParaRPr lang="en-US" sz="1250" dirty="0"/>
          </a:p>
        </p:txBody>
      </p:sp>
      <p:sp>
        <p:nvSpPr>
          <p:cNvPr id="24" name="Shape 21"/>
          <p:cNvSpPr/>
          <p:nvPr/>
        </p:nvSpPr>
        <p:spPr>
          <a:xfrm>
            <a:off x="548640" y="4937760"/>
            <a:ext cx="11094415" cy="868680"/>
          </a:xfrm>
          <a:prstGeom prst="roundRect">
            <a:avLst>
              <a:gd name="adj" fmla="val 9474"/>
            </a:avLst>
          </a:prstGeom>
          <a:solidFill>
            <a:srgbClr val="141B2D"/>
          </a:solidFill>
          <a:ln w="9525">
            <a:solidFill>
              <a:srgbClr val="27324A"/>
            </a:solidFill>
            <a:prstDash val="solid"/>
          </a:ln>
        </p:spPr>
        <p:txBody>
          <a:bodyPr/>
          <a:lstStyle/>
          <a:p>
            <a:endParaRPr lang="en-US"/>
          </a:p>
        </p:txBody>
      </p:sp>
      <p:sp>
        <p:nvSpPr>
          <p:cNvPr id="25" name="Text 22"/>
          <p:cNvSpPr txBox="1"/>
          <p:nvPr/>
        </p:nvSpPr>
        <p:spPr>
          <a:xfrm>
            <a:off x="841248" y="5102352"/>
            <a:ext cx="10509199" cy="566928"/>
          </a:xfrm>
          <a:prstGeom prst="rect">
            <a:avLst/>
          </a:prstGeom>
          <a:noFill/>
          <a:ln/>
        </p:spPr>
        <p:txBody>
          <a:bodyPr wrap="square" lIns="0" tIns="0" rIns="0" bIns="0" rtlCol="0" anchor="ctr"/>
          <a:lstStyle/>
          <a:p>
            <a:pPr marL="0" indent="0">
              <a:lnSpc>
                <a:spcPct val="115000"/>
              </a:lnSpc>
              <a:buNone/>
            </a:pPr>
            <a:r>
              <a:rPr lang="en-US" sz="1200" b="1" dirty="0">
                <a:solidFill>
                  <a:srgbClr val="FCA5A5"/>
                </a:solidFill>
                <a:latin typeface="Arial" pitchFamily="34" charset="0"/>
                <a:ea typeface="Arial" pitchFamily="34" charset="-122"/>
                <a:cs typeface="Arial" pitchFamily="34" charset="-120"/>
              </a:rPr>
              <a:t>Honest limitation:  </a:t>
            </a:r>
            <a:r>
              <a:rPr lang="en-US" sz="1200" dirty="0">
                <a:solidFill>
                  <a:srgbClr val="F8FAFC"/>
                </a:solidFill>
                <a:latin typeface="Arial" pitchFamily="34" charset="0"/>
                <a:ea typeface="Arial" pitchFamily="34" charset="-122"/>
                <a:cs typeface="Arial" pitchFamily="34" charset="-120"/>
              </a:rPr>
              <a:t>with 7 training images per identity and folds that overlap in training data, the selected k varies from 20 to 150 across the five rounds. Cross-validated test accuracy is 0.9025 ± 0.0347, so the range above should be read as a defensible choice, not a proven optimum.</a:t>
            </a:r>
            <a:endParaRPr lang="en-US" sz="1200" dirty="0"/>
          </a:p>
        </p:txBody>
      </p:sp>
      <p:sp>
        <p:nvSpPr>
          <p:cNvPr id="26" name="Text 23"/>
          <p:cNvSpPr txBox="1"/>
          <p:nvPr/>
        </p:nvSpPr>
        <p:spPr>
          <a:xfrm>
            <a:off x="548640" y="5998464"/>
            <a:ext cx="11094415" cy="420624"/>
          </a:xfrm>
          <a:prstGeom prst="rect">
            <a:avLst/>
          </a:prstGeom>
          <a:noFill/>
          <a:ln/>
        </p:spPr>
        <p:txBody>
          <a:bodyPr wrap="square" lIns="0" tIns="0" rIns="0" bIns="0" rtlCol="0" anchor="t"/>
          <a:lstStyle/>
          <a:p>
            <a:pPr marL="0" indent="0">
              <a:lnSpc>
                <a:spcPct val="108000"/>
              </a:lnSpc>
              <a:buNone/>
            </a:pPr>
            <a:r>
              <a:rPr lang="en-US" sz="900" i="1" dirty="0">
                <a:solidFill>
                  <a:srgbClr val="94A3B8"/>
                </a:solidFill>
                <a:latin typeface="Arial" pitchFamily="34" charset="0"/>
                <a:ea typeface="Arial" pitchFamily="34" charset="-122"/>
                <a:cs typeface="Arial" pitchFamily="34" charset="-120"/>
              </a:rPr>
              <a:t>Symbols:  k = number of principal components retained  ·  n_neighbors = number of training faces voting in KNN  ·  1-NN = KNN with n_neighbors = 1  ·  MSE = mean squared reconstruction error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3262</Words>
  <Application>Microsoft Office PowerPoint</Application>
  <PresentationFormat>Widescreen</PresentationFormat>
  <Paragraphs>339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kian aghmashe</cp:lastModifiedBy>
  <cp:revision>2</cp:revision>
  <dcterms:created xsi:type="dcterms:W3CDTF">2026-09-09T10:42:28Z</dcterms:created>
  <dcterms:modified xsi:type="dcterms:W3CDTF">2026-09-09T13:37:17Z</dcterms:modified>
</cp:coreProperties>
</file>